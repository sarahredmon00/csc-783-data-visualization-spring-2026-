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72" r:id="rId4"/>
    <p:sldId id="258" r:id="rId5"/>
    <p:sldId id="263" r:id="rId6"/>
    <p:sldId id="264" r:id="rId7"/>
    <p:sldId id="265" r:id="rId8"/>
    <p:sldId id="259" r:id="rId9"/>
    <p:sldId id="281" r:id="rId10"/>
    <p:sldId id="276" r:id="rId11"/>
    <p:sldId id="267" r:id="rId12"/>
    <p:sldId id="280" r:id="rId13"/>
    <p:sldId id="277" r:id="rId14"/>
    <p:sldId id="271" r:id="rId15"/>
    <p:sldId id="270"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397CD5-33EE-DB57-4BF1-8820E83C1716}" v="238" dt="2026-05-01T20:55:11.325"/>
    <p1510:client id="{7372DCBB-B8A8-1740-BF3F-191C551A2001}" v="1" dt="2026-05-01T23:50:11.156"/>
    <p1510:client id="{8CAFFA4D-ED71-D3B6-EA1E-07D285CA4FA0}" v="100" dt="2026-05-01T23:28:26.693"/>
    <p1510:client id="{99870065-1AA7-8CB1-CBB3-34CD5B673C84}" v="7" dt="2026-05-03T00:06:55.423"/>
    <p1510:client id="{C96D0148-DCDE-734D-5912-CF9C3537FF1D}" v="51" dt="2026-05-02T17:47:59.483"/>
    <p1510:client id="{DA10454E-5AA0-60EB-7975-56D4910A441E}" v="35" dt="2026-05-01T15:31:15.145"/>
    <p1510:client id="{DCDEC65C-2F7C-505A-2DC3-E167251C3468}" v="37" dt="2026-05-01T23:45:00.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878BE6-DD16-4DE6-B272-8818002BB7AD}"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327BF962-D32D-4E03-B8C5-6A78F2A09F16}">
      <dgm:prSet/>
      <dgm:spPr/>
      <dgm:t>
        <a:bodyPr/>
        <a:lstStyle/>
        <a:p>
          <a:r>
            <a:rPr lang="en-US"/>
            <a:t>Does increased study time always lead to better performance?</a:t>
          </a:r>
        </a:p>
      </dgm:t>
    </dgm:pt>
    <dgm:pt modelId="{5984B76D-C00A-4343-94C9-422752EB2DBE}" type="parTrans" cxnId="{1937E765-6F05-47E1-96E1-2253639C02D6}">
      <dgm:prSet/>
      <dgm:spPr/>
      <dgm:t>
        <a:bodyPr/>
        <a:lstStyle/>
        <a:p>
          <a:endParaRPr lang="en-US"/>
        </a:p>
      </dgm:t>
    </dgm:pt>
    <dgm:pt modelId="{D5232996-ABC1-4719-9376-3477F15E4D3D}" type="sibTrans" cxnId="{1937E765-6F05-47E1-96E1-2253639C02D6}">
      <dgm:prSet/>
      <dgm:spPr/>
      <dgm:t>
        <a:bodyPr/>
        <a:lstStyle/>
        <a:p>
          <a:endParaRPr lang="en-US"/>
        </a:p>
      </dgm:t>
    </dgm:pt>
    <dgm:pt modelId="{E7EAB94F-0292-42EA-9939-296C22FB7F33}">
      <dgm:prSet/>
      <dgm:spPr/>
      <dgm:t>
        <a:bodyPr/>
        <a:lstStyle/>
        <a:p>
          <a:r>
            <a:rPr lang="en-US"/>
            <a:t>Can sleep and study time be optimally balanced?</a:t>
          </a:r>
        </a:p>
      </dgm:t>
    </dgm:pt>
    <dgm:pt modelId="{1FED2D45-2903-48A2-976B-B2C48DD1FE04}" type="parTrans" cxnId="{B897439C-08D6-40B3-9394-B1E8DEB554A1}">
      <dgm:prSet/>
      <dgm:spPr/>
      <dgm:t>
        <a:bodyPr/>
        <a:lstStyle/>
        <a:p>
          <a:endParaRPr lang="en-US"/>
        </a:p>
      </dgm:t>
    </dgm:pt>
    <dgm:pt modelId="{0F37F2AE-E1FC-4B4A-87F5-2F7A5C57B0BE}" type="sibTrans" cxnId="{B897439C-08D6-40B3-9394-B1E8DEB554A1}">
      <dgm:prSet/>
      <dgm:spPr/>
      <dgm:t>
        <a:bodyPr/>
        <a:lstStyle/>
        <a:p>
          <a:endParaRPr lang="en-US"/>
        </a:p>
      </dgm:t>
    </dgm:pt>
    <dgm:pt modelId="{2348EBA0-5123-4255-9D57-C2D9642A0302}">
      <dgm:prSet/>
      <dgm:spPr/>
      <dgm:t>
        <a:bodyPr/>
        <a:lstStyle/>
        <a:p>
          <a:r>
            <a:rPr lang="en-US"/>
            <a:t>Is stress the most important factor in the dataset?</a:t>
          </a:r>
        </a:p>
      </dgm:t>
    </dgm:pt>
    <dgm:pt modelId="{99DB9F96-A978-4F7C-9E60-A73E38F9EBE1}" type="parTrans" cxnId="{1B8FC4DE-3AED-42DB-BE7B-A11168D5C1C4}">
      <dgm:prSet/>
      <dgm:spPr/>
      <dgm:t>
        <a:bodyPr/>
        <a:lstStyle/>
        <a:p>
          <a:endParaRPr lang="en-US"/>
        </a:p>
      </dgm:t>
    </dgm:pt>
    <dgm:pt modelId="{9CE4D6C6-70AC-4695-A679-671652F47ABB}" type="sibTrans" cxnId="{1B8FC4DE-3AED-42DB-BE7B-A11168D5C1C4}">
      <dgm:prSet/>
      <dgm:spPr/>
      <dgm:t>
        <a:bodyPr/>
        <a:lstStyle/>
        <a:p>
          <a:endParaRPr lang="en-US"/>
        </a:p>
      </dgm:t>
    </dgm:pt>
    <dgm:pt modelId="{C1C23591-F9C4-4492-ACB0-2E86E56D95DD}" type="pres">
      <dgm:prSet presAssocID="{44878BE6-DD16-4DE6-B272-8818002BB7AD}" presName="linear" presStyleCnt="0">
        <dgm:presLayoutVars>
          <dgm:animLvl val="lvl"/>
          <dgm:resizeHandles val="exact"/>
        </dgm:presLayoutVars>
      </dgm:prSet>
      <dgm:spPr/>
    </dgm:pt>
    <dgm:pt modelId="{D037D54D-3E56-4CCA-B976-01A919E97116}" type="pres">
      <dgm:prSet presAssocID="{327BF962-D32D-4E03-B8C5-6A78F2A09F16}" presName="parentText" presStyleLbl="node1" presStyleIdx="0" presStyleCnt="3">
        <dgm:presLayoutVars>
          <dgm:chMax val="0"/>
          <dgm:bulletEnabled val="1"/>
        </dgm:presLayoutVars>
      </dgm:prSet>
      <dgm:spPr/>
    </dgm:pt>
    <dgm:pt modelId="{F658304B-BEA8-4C54-8A11-1CA91C17ADCE}" type="pres">
      <dgm:prSet presAssocID="{D5232996-ABC1-4719-9376-3477F15E4D3D}" presName="spacer" presStyleCnt="0"/>
      <dgm:spPr/>
    </dgm:pt>
    <dgm:pt modelId="{67C1B873-D5D9-4086-B3F2-1881B8E340F8}" type="pres">
      <dgm:prSet presAssocID="{E7EAB94F-0292-42EA-9939-296C22FB7F33}" presName="parentText" presStyleLbl="node1" presStyleIdx="1" presStyleCnt="3">
        <dgm:presLayoutVars>
          <dgm:chMax val="0"/>
          <dgm:bulletEnabled val="1"/>
        </dgm:presLayoutVars>
      </dgm:prSet>
      <dgm:spPr/>
    </dgm:pt>
    <dgm:pt modelId="{102F9799-F0F6-4246-965B-2B7E392621B9}" type="pres">
      <dgm:prSet presAssocID="{0F37F2AE-E1FC-4B4A-87F5-2F7A5C57B0BE}" presName="spacer" presStyleCnt="0"/>
      <dgm:spPr/>
    </dgm:pt>
    <dgm:pt modelId="{69592B73-B188-46C9-B357-8D205C85256E}" type="pres">
      <dgm:prSet presAssocID="{2348EBA0-5123-4255-9D57-C2D9642A0302}" presName="parentText" presStyleLbl="node1" presStyleIdx="2" presStyleCnt="3">
        <dgm:presLayoutVars>
          <dgm:chMax val="0"/>
          <dgm:bulletEnabled val="1"/>
        </dgm:presLayoutVars>
      </dgm:prSet>
      <dgm:spPr/>
    </dgm:pt>
  </dgm:ptLst>
  <dgm:cxnLst>
    <dgm:cxn modelId="{1937E765-6F05-47E1-96E1-2253639C02D6}" srcId="{44878BE6-DD16-4DE6-B272-8818002BB7AD}" destId="{327BF962-D32D-4E03-B8C5-6A78F2A09F16}" srcOrd="0" destOrd="0" parTransId="{5984B76D-C00A-4343-94C9-422752EB2DBE}" sibTransId="{D5232996-ABC1-4719-9376-3477F15E4D3D}"/>
    <dgm:cxn modelId="{2278FA49-8277-4DD6-AA10-3A67D4117E06}" type="presOf" srcId="{E7EAB94F-0292-42EA-9939-296C22FB7F33}" destId="{67C1B873-D5D9-4086-B3F2-1881B8E340F8}" srcOrd="0" destOrd="0" presId="urn:microsoft.com/office/officeart/2005/8/layout/vList2"/>
    <dgm:cxn modelId="{B897439C-08D6-40B3-9394-B1E8DEB554A1}" srcId="{44878BE6-DD16-4DE6-B272-8818002BB7AD}" destId="{E7EAB94F-0292-42EA-9939-296C22FB7F33}" srcOrd="1" destOrd="0" parTransId="{1FED2D45-2903-48A2-976B-B2C48DD1FE04}" sibTransId="{0F37F2AE-E1FC-4B4A-87F5-2F7A5C57B0BE}"/>
    <dgm:cxn modelId="{3FCABCD4-162F-4455-9E2D-7131E5CB2413}" type="presOf" srcId="{44878BE6-DD16-4DE6-B272-8818002BB7AD}" destId="{C1C23591-F9C4-4492-ACB0-2E86E56D95DD}" srcOrd="0" destOrd="0" presId="urn:microsoft.com/office/officeart/2005/8/layout/vList2"/>
    <dgm:cxn modelId="{B73D0FD5-DA0F-4FFD-BABD-A37D5B0A0E46}" type="presOf" srcId="{327BF962-D32D-4E03-B8C5-6A78F2A09F16}" destId="{D037D54D-3E56-4CCA-B976-01A919E97116}" srcOrd="0" destOrd="0" presId="urn:microsoft.com/office/officeart/2005/8/layout/vList2"/>
    <dgm:cxn modelId="{1B8FC4DE-3AED-42DB-BE7B-A11168D5C1C4}" srcId="{44878BE6-DD16-4DE6-B272-8818002BB7AD}" destId="{2348EBA0-5123-4255-9D57-C2D9642A0302}" srcOrd="2" destOrd="0" parTransId="{99DB9F96-A978-4F7C-9E60-A73E38F9EBE1}" sibTransId="{9CE4D6C6-70AC-4695-A679-671652F47ABB}"/>
    <dgm:cxn modelId="{E41923DF-F923-4BBB-9515-38ACA95E2D92}" type="presOf" srcId="{2348EBA0-5123-4255-9D57-C2D9642A0302}" destId="{69592B73-B188-46C9-B357-8D205C85256E}" srcOrd="0" destOrd="0" presId="urn:microsoft.com/office/officeart/2005/8/layout/vList2"/>
    <dgm:cxn modelId="{8463603D-C078-4D05-BD92-544A869B7B89}" type="presParOf" srcId="{C1C23591-F9C4-4492-ACB0-2E86E56D95DD}" destId="{D037D54D-3E56-4CCA-B976-01A919E97116}" srcOrd="0" destOrd="0" presId="urn:microsoft.com/office/officeart/2005/8/layout/vList2"/>
    <dgm:cxn modelId="{E58C7600-DADC-4B96-B146-FD4A54149E2A}" type="presParOf" srcId="{C1C23591-F9C4-4492-ACB0-2E86E56D95DD}" destId="{F658304B-BEA8-4C54-8A11-1CA91C17ADCE}" srcOrd="1" destOrd="0" presId="urn:microsoft.com/office/officeart/2005/8/layout/vList2"/>
    <dgm:cxn modelId="{BF1E8376-85DF-4E15-8EE8-2A74850ABBAC}" type="presParOf" srcId="{C1C23591-F9C4-4492-ACB0-2E86E56D95DD}" destId="{67C1B873-D5D9-4086-B3F2-1881B8E340F8}" srcOrd="2" destOrd="0" presId="urn:microsoft.com/office/officeart/2005/8/layout/vList2"/>
    <dgm:cxn modelId="{66AA96BF-F93F-4054-9EA9-868326C5F0FB}" type="presParOf" srcId="{C1C23591-F9C4-4492-ACB0-2E86E56D95DD}" destId="{102F9799-F0F6-4246-965B-2B7E392621B9}" srcOrd="3" destOrd="0" presId="urn:microsoft.com/office/officeart/2005/8/layout/vList2"/>
    <dgm:cxn modelId="{E3AB510A-A482-4B46-8577-F4EAF8225475}" type="presParOf" srcId="{C1C23591-F9C4-4492-ACB0-2E86E56D95DD}" destId="{69592B73-B188-46C9-B357-8D205C8525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541AFD-B903-4EB8-A9E7-0D0F8F5F9F6C}"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18546516-F006-40B1-9C50-C154FDCF8488}">
      <dgm:prSet/>
      <dgm:spPr/>
      <dgm:t>
        <a:bodyPr/>
        <a:lstStyle/>
        <a:p>
          <a:r>
            <a:rPr lang="en-US"/>
            <a:t>T‑Test: GPA Differences by Gender:</a:t>
          </a:r>
        </a:p>
      </dgm:t>
    </dgm:pt>
    <dgm:pt modelId="{D552DC5E-CFC8-4C4D-BD27-66BE945EDC2D}" type="parTrans" cxnId="{3DC852BD-4287-43E7-B874-910775137269}">
      <dgm:prSet/>
      <dgm:spPr/>
      <dgm:t>
        <a:bodyPr/>
        <a:lstStyle/>
        <a:p>
          <a:endParaRPr lang="en-US"/>
        </a:p>
      </dgm:t>
    </dgm:pt>
    <dgm:pt modelId="{E76E4CA6-E4C7-40DA-80C6-1042F131394F}" type="sibTrans" cxnId="{3DC852BD-4287-43E7-B874-910775137269}">
      <dgm:prSet/>
      <dgm:spPr/>
      <dgm:t>
        <a:bodyPr/>
        <a:lstStyle/>
        <a:p>
          <a:endParaRPr lang="en-US"/>
        </a:p>
      </dgm:t>
    </dgm:pt>
    <dgm:pt modelId="{CD02ED20-7522-4D48-B4AC-CF7FCF534BD2}">
      <dgm:prSet/>
      <dgm:spPr/>
      <dgm:t>
        <a:bodyPr/>
        <a:lstStyle/>
        <a:p>
          <a:r>
            <a:rPr lang="en-US"/>
            <a:t>Result: t(9989.6) = –1.47, p = 0.142</a:t>
          </a:r>
        </a:p>
      </dgm:t>
    </dgm:pt>
    <dgm:pt modelId="{A40CE413-4CD7-431E-ACDA-D2DBCAB4614A}" type="parTrans" cxnId="{52C9B400-39AC-402F-9B50-F28A7CF07B6F}">
      <dgm:prSet/>
      <dgm:spPr/>
      <dgm:t>
        <a:bodyPr/>
        <a:lstStyle/>
        <a:p>
          <a:endParaRPr lang="en-US"/>
        </a:p>
      </dgm:t>
    </dgm:pt>
    <dgm:pt modelId="{B4348002-3080-4EF4-8299-2ABE9E91E6DF}" type="sibTrans" cxnId="{52C9B400-39AC-402F-9B50-F28A7CF07B6F}">
      <dgm:prSet/>
      <dgm:spPr/>
      <dgm:t>
        <a:bodyPr/>
        <a:lstStyle/>
        <a:p>
          <a:endParaRPr lang="en-US"/>
        </a:p>
      </dgm:t>
    </dgm:pt>
    <dgm:pt modelId="{C7294776-1E61-49EE-AEF0-55E12F81A9F6}">
      <dgm:prSet/>
      <dgm:spPr/>
      <dgm:t>
        <a:bodyPr/>
        <a:lstStyle/>
        <a:p>
          <a:r>
            <a:rPr lang="en-US"/>
            <a:t>Means: Female = 3.612, Male = 3.623</a:t>
          </a:r>
        </a:p>
      </dgm:t>
    </dgm:pt>
    <dgm:pt modelId="{7672EF7D-576A-48B8-9FC2-45502C898C1B}" type="parTrans" cxnId="{C5ADA23E-4BD0-484A-9218-C866F3DE6746}">
      <dgm:prSet/>
      <dgm:spPr/>
      <dgm:t>
        <a:bodyPr/>
        <a:lstStyle/>
        <a:p>
          <a:endParaRPr lang="en-US"/>
        </a:p>
      </dgm:t>
    </dgm:pt>
    <dgm:pt modelId="{D8D77813-256D-4445-B2C8-613E1199F7F9}" type="sibTrans" cxnId="{C5ADA23E-4BD0-484A-9218-C866F3DE6746}">
      <dgm:prSet/>
      <dgm:spPr/>
      <dgm:t>
        <a:bodyPr/>
        <a:lstStyle/>
        <a:p>
          <a:endParaRPr lang="en-US"/>
        </a:p>
      </dgm:t>
    </dgm:pt>
    <dgm:pt modelId="{13A44B6B-72C1-43B9-9B78-23FD16BCE911}">
      <dgm:prSet/>
      <dgm:spPr/>
      <dgm:t>
        <a:bodyPr/>
        <a:lstStyle/>
        <a:p>
          <a:r>
            <a:rPr lang="en-US"/>
            <a:t>95% CI: –0.027 to 0.0039</a:t>
          </a:r>
        </a:p>
      </dgm:t>
    </dgm:pt>
    <dgm:pt modelId="{5ECC0A10-7F36-4F4E-BB97-E3053FDF2615}" type="parTrans" cxnId="{32FCE8AD-AC39-43EB-AE85-110A81EB2A74}">
      <dgm:prSet/>
      <dgm:spPr/>
      <dgm:t>
        <a:bodyPr/>
        <a:lstStyle/>
        <a:p>
          <a:endParaRPr lang="en-US"/>
        </a:p>
      </dgm:t>
    </dgm:pt>
    <dgm:pt modelId="{397A72B9-0F06-4A37-B990-CC3B1E48A128}" type="sibTrans" cxnId="{32FCE8AD-AC39-43EB-AE85-110A81EB2A74}">
      <dgm:prSet/>
      <dgm:spPr/>
      <dgm:t>
        <a:bodyPr/>
        <a:lstStyle/>
        <a:p>
          <a:endParaRPr lang="en-US"/>
        </a:p>
      </dgm:t>
    </dgm:pt>
    <dgm:pt modelId="{576F738B-3C54-471A-A1C2-881BB65B562B}">
      <dgm:prSet/>
      <dgm:spPr/>
      <dgm:t>
        <a:bodyPr/>
        <a:lstStyle/>
        <a:p>
          <a:r>
            <a:rPr lang="en-US"/>
            <a:t>Interpretation: No significant GPA difference between genders; CI includes zero.</a:t>
          </a:r>
        </a:p>
      </dgm:t>
    </dgm:pt>
    <dgm:pt modelId="{29436262-2BE9-4BCF-87C4-C377B40F0C79}" type="parTrans" cxnId="{0833B9AD-70C7-41EC-A61B-619CCAB24D62}">
      <dgm:prSet/>
      <dgm:spPr/>
      <dgm:t>
        <a:bodyPr/>
        <a:lstStyle/>
        <a:p>
          <a:endParaRPr lang="en-US"/>
        </a:p>
      </dgm:t>
    </dgm:pt>
    <dgm:pt modelId="{0F241095-2605-49CA-A776-929A36D81267}" type="sibTrans" cxnId="{0833B9AD-70C7-41EC-A61B-619CCAB24D62}">
      <dgm:prSet/>
      <dgm:spPr/>
      <dgm:t>
        <a:bodyPr/>
        <a:lstStyle/>
        <a:p>
          <a:endParaRPr lang="en-US"/>
        </a:p>
      </dgm:t>
    </dgm:pt>
    <dgm:pt modelId="{4951467C-7F83-481F-B279-F2090952A812}">
      <dgm:prSet/>
      <dgm:spPr/>
      <dgm:t>
        <a:bodyPr/>
        <a:lstStyle/>
        <a:p>
          <a:r>
            <a:rPr lang="en-US"/>
            <a:t>ANOVA: GPA Differences by Stress Level:</a:t>
          </a:r>
        </a:p>
      </dgm:t>
    </dgm:pt>
    <dgm:pt modelId="{8C05D04C-9B84-4F82-96CE-F22D9AF091EF}" type="parTrans" cxnId="{27B1CB18-D855-44F0-8A99-F5FEBB1205A1}">
      <dgm:prSet/>
      <dgm:spPr/>
      <dgm:t>
        <a:bodyPr/>
        <a:lstStyle/>
        <a:p>
          <a:endParaRPr lang="en-US"/>
        </a:p>
      </dgm:t>
    </dgm:pt>
    <dgm:pt modelId="{E038DE95-D644-48C3-BB79-4C72D0C99879}" type="sibTrans" cxnId="{27B1CB18-D855-44F0-8A99-F5FEBB1205A1}">
      <dgm:prSet/>
      <dgm:spPr/>
      <dgm:t>
        <a:bodyPr/>
        <a:lstStyle/>
        <a:p>
          <a:endParaRPr lang="en-US"/>
        </a:p>
      </dgm:t>
    </dgm:pt>
    <dgm:pt modelId="{0A99F048-44E6-416D-A62F-F7C4423E743F}">
      <dgm:prSet/>
      <dgm:spPr/>
      <dgm:t>
        <a:bodyPr/>
        <a:lstStyle/>
        <a:p>
          <a:r>
            <a:rPr lang="en-US"/>
            <a:t>Result: F(3, 9996) = 229.2, p &lt; 2e‑16</a:t>
          </a:r>
        </a:p>
      </dgm:t>
    </dgm:pt>
    <dgm:pt modelId="{AC7D6044-FBDD-45C7-9539-B2D95DE289C9}" type="parTrans" cxnId="{B0B27662-4D3B-42E3-B14B-34495D292D06}">
      <dgm:prSet/>
      <dgm:spPr/>
      <dgm:t>
        <a:bodyPr/>
        <a:lstStyle/>
        <a:p>
          <a:endParaRPr lang="en-US"/>
        </a:p>
      </dgm:t>
    </dgm:pt>
    <dgm:pt modelId="{86B3E194-A6B4-4238-AC73-3A0957146067}" type="sibTrans" cxnId="{B0B27662-4D3B-42E3-B14B-34495D292D06}">
      <dgm:prSet/>
      <dgm:spPr/>
      <dgm:t>
        <a:bodyPr/>
        <a:lstStyle/>
        <a:p>
          <a:endParaRPr lang="en-US"/>
        </a:p>
      </dgm:t>
    </dgm:pt>
    <dgm:pt modelId="{FEDE45E4-504C-4042-9193-F29C513DD2E6}">
      <dgm:prSet/>
      <dgm:spPr/>
      <dgm:t>
        <a:bodyPr/>
        <a:lstStyle/>
        <a:p>
          <a:r>
            <a:rPr lang="en-US"/>
            <a:t>Effect: Strong differences in GPA across stress groups</a:t>
          </a:r>
        </a:p>
      </dgm:t>
    </dgm:pt>
    <dgm:pt modelId="{65574DBE-99E8-4034-9D97-509514751882}" type="parTrans" cxnId="{024B3597-6AD0-4082-915B-F2ED9FD2CCCC}">
      <dgm:prSet/>
      <dgm:spPr/>
      <dgm:t>
        <a:bodyPr/>
        <a:lstStyle/>
        <a:p>
          <a:endParaRPr lang="en-US"/>
        </a:p>
      </dgm:t>
    </dgm:pt>
    <dgm:pt modelId="{9241D19C-811F-482A-829C-176D8584C61A}" type="sibTrans" cxnId="{024B3597-6AD0-4082-915B-F2ED9FD2CCCC}">
      <dgm:prSet/>
      <dgm:spPr/>
      <dgm:t>
        <a:bodyPr/>
        <a:lstStyle/>
        <a:p>
          <a:endParaRPr lang="en-US"/>
        </a:p>
      </dgm:t>
    </dgm:pt>
    <dgm:pt modelId="{522F6EA2-C465-4434-8289-2347DB8D2529}">
      <dgm:prSet/>
      <dgm:spPr/>
      <dgm:t>
        <a:bodyPr/>
        <a:lstStyle/>
        <a:p>
          <a:r>
            <a:rPr lang="en-US"/>
            <a:t>Interpretation: Higher stress is associated with lower GPA; stress is a major predictor.</a:t>
          </a:r>
        </a:p>
      </dgm:t>
    </dgm:pt>
    <dgm:pt modelId="{A507DF6A-518A-4B3B-80E5-52F1151F0DB6}" type="parTrans" cxnId="{8B67614B-FCA9-481F-86A7-94E6002878DE}">
      <dgm:prSet/>
      <dgm:spPr/>
      <dgm:t>
        <a:bodyPr/>
        <a:lstStyle/>
        <a:p>
          <a:endParaRPr lang="en-US"/>
        </a:p>
      </dgm:t>
    </dgm:pt>
    <dgm:pt modelId="{3CC74E00-1AE0-4CAF-B40C-D4F692DA698E}" type="sibTrans" cxnId="{8B67614B-FCA9-481F-86A7-94E6002878DE}">
      <dgm:prSet/>
      <dgm:spPr/>
      <dgm:t>
        <a:bodyPr/>
        <a:lstStyle/>
        <a:p>
          <a:endParaRPr lang="en-US"/>
        </a:p>
      </dgm:t>
    </dgm:pt>
    <dgm:pt modelId="{4D915743-22C4-4BE5-9405-4B291F2ACB89}" type="pres">
      <dgm:prSet presAssocID="{34541AFD-B903-4EB8-A9E7-0D0F8F5F9F6C}" presName="linear" presStyleCnt="0">
        <dgm:presLayoutVars>
          <dgm:dir/>
          <dgm:animLvl val="lvl"/>
          <dgm:resizeHandles val="exact"/>
        </dgm:presLayoutVars>
      </dgm:prSet>
      <dgm:spPr/>
    </dgm:pt>
    <dgm:pt modelId="{FF148FFA-256B-48F2-A5AA-F26E9ADDCE40}" type="pres">
      <dgm:prSet presAssocID="{18546516-F006-40B1-9C50-C154FDCF8488}" presName="parentLin" presStyleCnt="0"/>
      <dgm:spPr/>
    </dgm:pt>
    <dgm:pt modelId="{0A57BEA0-27B4-478C-B176-EC44DB9A768B}" type="pres">
      <dgm:prSet presAssocID="{18546516-F006-40B1-9C50-C154FDCF8488}" presName="parentLeftMargin" presStyleLbl="node1" presStyleIdx="0" presStyleCnt="2"/>
      <dgm:spPr/>
    </dgm:pt>
    <dgm:pt modelId="{7D6F9F75-1468-4D69-8202-1CAF3A234267}" type="pres">
      <dgm:prSet presAssocID="{18546516-F006-40B1-9C50-C154FDCF8488}" presName="parentText" presStyleLbl="node1" presStyleIdx="0" presStyleCnt="2">
        <dgm:presLayoutVars>
          <dgm:chMax val="0"/>
          <dgm:bulletEnabled val="1"/>
        </dgm:presLayoutVars>
      </dgm:prSet>
      <dgm:spPr/>
    </dgm:pt>
    <dgm:pt modelId="{F4716A13-E64A-45DE-ADDA-510F124ECC92}" type="pres">
      <dgm:prSet presAssocID="{18546516-F006-40B1-9C50-C154FDCF8488}" presName="negativeSpace" presStyleCnt="0"/>
      <dgm:spPr/>
    </dgm:pt>
    <dgm:pt modelId="{D64EF2DD-C0D5-4064-ACA3-0B755ED04D24}" type="pres">
      <dgm:prSet presAssocID="{18546516-F006-40B1-9C50-C154FDCF8488}" presName="childText" presStyleLbl="conFgAcc1" presStyleIdx="0" presStyleCnt="2">
        <dgm:presLayoutVars>
          <dgm:bulletEnabled val="1"/>
        </dgm:presLayoutVars>
      </dgm:prSet>
      <dgm:spPr/>
    </dgm:pt>
    <dgm:pt modelId="{75F8C5EE-8E5F-4C6D-8906-0FA4DEDE01A5}" type="pres">
      <dgm:prSet presAssocID="{E76E4CA6-E4C7-40DA-80C6-1042F131394F}" presName="spaceBetweenRectangles" presStyleCnt="0"/>
      <dgm:spPr/>
    </dgm:pt>
    <dgm:pt modelId="{EBDD8624-571D-47E1-8AB7-A989645D2F28}" type="pres">
      <dgm:prSet presAssocID="{4951467C-7F83-481F-B279-F2090952A812}" presName="parentLin" presStyleCnt="0"/>
      <dgm:spPr/>
    </dgm:pt>
    <dgm:pt modelId="{98895C9C-C997-42F5-AF1D-A179DA04CEC0}" type="pres">
      <dgm:prSet presAssocID="{4951467C-7F83-481F-B279-F2090952A812}" presName="parentLeftMargin" presStyleLbl="node1" presStyleIdx="0" presStyleCnt="2"/>
      <dgm:spPr/>
    </dgm:pt>
    <dgm:pt modelId="{098B8FD6-CC69-4008-BB95-A1CFB21102DC}" type="pres">
      <dgm:prSet presAssocID="{4951467C-7F83-481F-B279-F2090952A812}" presName="parentText" presStyleLbl="node1" presStyleIdx="1" presStyleCnt="2">
        <dgm:presLayoutVars>
          <dgm:chMax val="0"/>
          <dgm:bulletEnabled val="1"/>
        </dgm:presLayoutVars>
      </dgm:prSet>
      <dgm:spPr/>
    </dgm:pt>
    <dgm:pt modelId="{8171DAB2-DCAF-4854-86F9-97EA0017D242}" type="pres">
      <dgm:prSet presAssocID="{4951467C-7F83-481F-B279-F2090952A812}" presName="negativeSpace" presStyleCnt="0"/>
      <dgm:spPr/>
    </dgm:pt>
    <dgm:pt modelId="{2B6F95A6-AAB5-4519-AA4C-65D6BB9755F9}" type="pres">
      <dgm:prSet presAssocID="{4951467C-7F83-481F-B279-F2090952A812}" presName="childText" presStyleLbl="conFgAcc1" presStyleIdx="1" presStyleCnt="2">
        <dgm:presLayoutVars>
          <dgm:bulletEnabled val="1"/>
        </dgm:presLayoutVars>
      </dgm:prSet>
      <dgm:spPr/>
    </dgm:pt>
  </dgm:ptLst>
  <dgm:cxnLst>
    <dgm:cxn modelId="{52C9B400-39AC-402F-9B50-F28A7CF07B6F}" srcId="{18546516-F006-40B1-9C50-C154FDCF8488}" destId="{CD02ED20-7522-4D48-B4AC-CF7FCF534BD2}" srcOrd="0" destOrd="0" parTransId="{A40CE413-4CD7-431E-ACDA-D2DBCAB4614A}" sibTransId="{B4348002-3080-4EF4-8299-2ABE9E91E6DF}"/>
    <dgm:cxn modelId="{27B1CB18-D855-44F0-8A99-F5FEBB1205A1}" srcId="{34541AFD-B903-4EB8-A9E7-0D0F8F5F9F6C}" destId="{4951467C-7F83-481F-B279-F2090952A812}" srcOrd="1" destOrd="0" parTransId="{8C05D04C-9B84-4F82-96CE-F22D9AF091EF}" sibTransId="{E038DE95-D644-48C3-BB79-4C72D0C99879}"/>
    <dgm:cxn modelId="{E0F82B22-F37B-439E-A4EE-BA18F793108A}" type="presOf" srcId="{576F738B-3C54-471A-A1C2-881BB65B562B}" destId="{D64EF2DD-C0D5-4064-ACA3-0B755ED04D24}" srcOrd="0" destOrd="3" presId="urn:microsoft.com/office/officeart/2005/8/layout/list1"/>
    <dgm:cxn modelId="{5D4CE228-9001-42D6-8865-A71B61B2A9FF}" type="presOf" srcId="{C7294776-1E61-49EE-AEF0-55E12F81A9F6}" destId="{D64EF2DD-C0D5-4064-ACA3-0B755ED04D24}" srcOrd="0" destOrd="1" presId="urn:microsoft.com/office/officeart/2005/8/layout/list1"/>
    <dgm:cxn modelId="{442CFC38-8D23-4AC0-81DF-BF89C582ACBE}" type="presOf" srcId="{FEDE45E4-504C-4042-9193-F29C513DD2E6}" destId="{2B6F95A6-AAB5-4519-AA4C-65D6BB9755F9}" srcOrd="0" destOrd="1" presId="urn:microsoft.com/office/officeart/2005/8/layout/list1"/>
    <dgm:cxn modelId="{C5ADA23E-4BD0-484A-9218-C866F3DE6746}" srcId="{18546516-F006-40B1-9C50-C154FDCF8488}" destId="{C7294776-1E61-49EE-AEF0-55E12F81A9F6}" srcOrd="1" destOrd="0" parTransId="{7672EF7D-576A-48B8-9FC2-45502C898C1B}" sibTransId="{D8D77813-256D-4445-B2C8-613E1199F7F9}"/>
    <dgm:cxn modelId="{B0B27662-4D3B-42E3-B14B-34495D292D06}" srcId="{4951467C-7F83-481F-B279-F2090952A812}" destId="{0A99F048-44E6-416D-A62F-F7C4423E743F}" srcOrd="0" destOrd="0" parTransId="{AC7D6044-FBDD-45C7-9539-B2D95DE289C9}" sibTransId="{86B3E194-A6B4-4238-AC73-3A0957146067}"/>
    <dgm:cxn modelId="{0172A446-B509-45A8-A967-788E25D915BF}" type="presOf" srcId="{13A44B6B-72C1-43B9-9B78-23FD16BCE911}" destId="{D64EF2DD-C0D5-4064-ACA3-0B755ED04D24}" srcOrd="0" destOrd="2" presId="urn:microsoft.com/office/officeart/2005/8/layout/list1"/>
    <dgm:cxn modelId="{8B67614B-FCA9-481F-86A7-94E6002878DE}" srcId="{4951467C-7F83-481F-B279-F2090952A812}" destId="{522F6EA2-C465-4434-8289-2347DB8D2529}" srcOrd="2" destOrd="0" parTransId="{A507DF6A-518A-4B3B-80E5-52F1151F0DB6}" sibTransId="{3CC74E00-1AE0-4CAF-B40C-D4F692DA698E}"/>
    <dgm:cxn modelId="{4DBE6451-5DFD-48B7-8D9C-580FCD629B9D}" type="presOf" srcId="{18546516-F006-40B1-9C50-C154FDCF8488}" destId="{7D6F9F75-1468-4D69-8202-1CAF3A234267}" srcOrd="1" destOrd="0" presId="urn:microsoft.com/office/officeart/2005/8/layout/list1"/>
    <dgm:cxn modelId="{367A4674-5095-4208-9379-470CE3BC4421}" type="presOf" srcId="{4951467C-7F83-481F-B279-F2090952A812}" destId="{98895C9C-C997-42F5-AF1D-A179DA04CEC0}" srcOrd="0" destOrd="0" presId="urn:microsoft.com/office/officeart/2005/8/layout/list1"/>
    <dgm:cxn modelId="{A9DB8B56-78FE-4F08-8E06-2C45E36D22C1}" type="presOf" srcId="{18546516-F006-40B1-9C50-C154FDCF8488}" destId="{0A57BEA0-27B4-478C-B176-EC44DB9A768B}" srcOrd="0" destOrd="0" presId="urn:microsoft.com/office/officeart/2005/8/layout/list1"/>
    <dgm:cxn modelId="{98883D96-244C-48DB-94AB-58EA524E2D92}" type="presOf" srcId="{0A99F048-44E6-416D-A62F-F7C4423E743F}" destId="{2B6F95A6-AAB5-4519-AA4C-65D6BB9755F9}" srcOrd="0" destOrd="0" presId="urn:microsoft.com/office/officeart/2005/8/layout/list1"/>
    <dgm:cxn modelId="{024B3597-6AD0-4082-915B-F2ED9FD2CCCC}" srcId="{4951467C-7F83-481F-B279-F2090952A812}" destId="{FEDE45E4-504C-4042-9193-F29C513DD2E6}" srcOrd="1" destOrd="0" parTransId="{65574DBE-99E8-4034-9D97-509514751882}" sibTransId="{9241D19C-811F-482A-829C-176D8584C61A}"/>
    <dgm:cxn modelId="{0833B9AD-70C7-41EC-A61B-619CCAB24D62}" srcId="{18546516-F006-40B1-9C50-C154FDCF8488}" destId="{576F738B-3C54-471A-A1C2-881BB65B562B}" srcOrd="3" destOrd="0" parTransId="{29436262-2BE9-4BCF-87C4-C377B40F0C79}" sibTransId="{0F241095-2605-49CA-A776-929A36D81267}"/>
    <dgm:cxn modelId="{32FCE8AD-AC39-43EB-AE85-110A81EB2A74}" srcId="{18546516-F006-40B1-9C50-C154FDCF8488}" destId="{13A44B6B-72C1-43B9-9B78-23FD16BCE911}" srcOrd="2" destOrd="0" parTransId="{5ECC0A10-7F36-4F4E-BB97-E3053FDF2615}" sibTransId="{397A72B9-0F06-4A37-B990-CC3B1E48A128}"/>
    <dgm:cxn modelId="{3DC852BD-4287-43E7-B874-910775137269}" srcId="{34541AFD-B903-4EB8-A9E7-0D0F8F5F9F6C}" destId="{18546516-F006-40B1-9C50-C154FDCF8488}" srcOrd="0" destOrd="0" parTransId="{D552DC5E-CFC8-4C4D-BD27-66BE945EDC2D}" sibTransId="{E76E4CA6-E4C7-40DA-80C6-1042F131394F}"/>
    <dgm:cxn modelId="{6A0F7EDB-0038-43DB-8D18-B9C9371A2AFD}" type="presOf" srcId="{CD02ED20-7522-4D48-B4AC-CF7FCF534BD2}" destId="{D64EF2DD-C0D5-4064-ACA3-0B755ED04D24}" srcOrd="0" destOrd="0" presId="urn:microsoft.com/office/officeart/2005/8/layout/list1"/>
    <dgm:cxn modelId="{5A6523E5-52C6-43C8-97C0-213DA0A024D9}" type="presOf" srcId="{522F6EA2-C465-4434-8289-2347DB8D2529}" destId="{2B6F95A6-AAB5-4519-AA4C-65D6BB9755F9}" srcOrd="0" destOrd="2" presId="urn:microsoft.com/office/officeart/2005/8/layout/list1"/>
    <dgm:cxn modelId="{5F45A1F7-6EB6-4245-8E0A-745836675634}" type="presOf" srcId="{4951467C-7F83-481F-B279-F2090952A812}" destId="{098B8FD6-CC69-4008-BB95-A1CFB21102DC}" srcOrd="1" destOrd="0" presId="urn:microsoft.com/office/officeart/2005/8/layout/list1"/>
    <dgm:cxn modelId="{3213F1FD-EE33-4658-84BE-F8D2CDB7A594}" type="presOf" srcId="{34541AFD-B903-4EB8-A9E7-0D0F8F5F9F6C}" destId="{4D915743-22C4-4BE5-9405-4B291F2ACB89}" srcOrd="0" destOrd="0" presId="urn:microsoft.com/office/officeart/2005/8/layout/list1"/>
    <dgm:cxn modelId="{15445880-A68A-4877-969D-36CB53AEA6F6}" type="presParOf" srcId="{4D915743-22C4-4BE5-9405-4B291F2ACB89}" destId="{FF148FFA-256B-48F2-A5AA-F26E9ADDCE40}" srcOrd="0" destOrd="0" presId="urn:microsoft.com/office/officeart/2005/8/layout/list1"/>
    <dgm:cxn modelId="{D5681C7C-38F9-4FE0-91C5-CC29F741C4D1}" type="presParOf" srcId="{FF148FFA-256B-48F2-A5AA-F26E9ADDCE40}" destId="{0A57BEA0-27B4-478C-B176-EC44DB9A768B}" srcOrd="0" destOrd="0" presId="urn:microsoft.com/office/officeart/2005/8/layout/list1"/>
    <dgm:cxn modelId="{4031A992-C699-450B-A51E-EF9EB5113FE6}" type="presParOf" srcId="{FF148FFA-256B-48F2-A5AA-F26E9ADDCE40}" destId="{7D6F9F75-1468-4D69-8202-1CAF3A234267}" srcOrd="1" destOrd="0" presId="urn:microsoft.com/office/officeart/2005/8/layout/list1"/>
    <dgm:cxn modelId="{A15EAFF0-AD7E-4857-B270-63D0136CDED9}" type="presParOf" srcId="{4D915743-22C4-4BE5-9405-4B291F2ACB89}" destId="{F4716A13-E64A-45DE-ADDA-510F124ECC92}" srcOrd="1" destOrd="0" presId="urn:microsoft.com/office/officeart/2005/8/layout/list1"/>
    <dgm:cxn modelId="{4A9736A5-BCBF-4D62-A979-6C76599EA2FB}" type="presParOf" srcId="{4D915743-22C4-4BE5-9405-4B291F2ACB89}" destId="{D64EF2DD-C0D5-4064-ACA3-0B755ED04D24}" srcOrd="2" destOrd="0" presId="urn:microsoft.com/office/officeart/2005/8/layout/list1"/>
    <dgm:cxn modelId="{9E92A8A6-495E-427B-8036-4090D68DFC9B}" type="presParOf" srcId="{4D915743-22C4-4BE5-9405-4B291F2ACB89}" destId="{75F8C5EE-8E5F-4C6D-8906-0FA4DEDE01A5}" srcOrd="3" destOrd="0" presId="urn:microsoft.com/office/officeart/2005/8/layout/list1"/>
    <dgm:cxn modelId="{3E984F0C-DCDA-4C27-921E-FB1F37515DB1}" type="presParOf" srcId="{4D915743-22C4-4BE5-9405-4B291F2ACB89}" destId="{EBDD8624-571D-47E1-8AB7-A989645D2F28}" srcOrd="4" destOrd="0" presId="urn:microsoft.com/office/officeart/2005/8/layout/list1"/>
    <dgm:cxn modelId="{72A08B72-9592-40B5-9E16-EE1C2C73AE35}" type="presParOf" srcId="{EBDD8624-571D-47E1-8AB7-A989645D2F28}" destId="{98895C9C-C997-42F5-AF1D-A179DA04CEC0}" srcOrd="0" destOrd="0" presId="urn:microsoft.com/office/officeart/2005/8/layout/list1"/>
    <dgm:cxn modelId="{71789700-EEB6-489D-B25E-4199059E0CC9}" type="presParOf" srcId="{EBDD8624-571D-47E1-8AB7-A989645D2F28}" destId="{098B8FD6-CC69-4008-BB95-A1CFB21102DC}" srcOrd="1" destOrd="0" presId="urn:microsoft.com/office/officeart/2005/8/layout/list1"/>
    <dgm:cxn modelId="{13DB0BB8-B09D-482E-AE1A-EF004E04512B}" type="presParOf" srcId="{4D915743-22C4-4BE5-9405-4B291F2ACB89}" destId="{8171DAB2-DCAF-4854-86F9-97EA0017D242}" srcOrd="5" destOrd="0" presId="urn:microsoft.com/office/officeart/2005/8/layout/list1"/>
    <dgm:cxn modelId="{5F5D9CA9-7AF4-41D1-9C21-DD4DDAAF8F75}" type="presParOf" srcId="{4D915743-22C4-4BE5-9405-4B291F2ACB89}" destId="{2B6F95A6-AAB5-4519-AA4C-65D6BB9755F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7D54D-3E56-4CCA-B976-01A919E97116}">
      <dsp:nvSpPr>
        <dsp:cNvPr id="0" name=""/>
        <dsp:cNvSpPr/>
      </dsp:nvSpPr>
      <dsp:spPr>
        <a:xfrm>
          <a:off x="0" y="20663"/>
          <a:ext cx="6263640" cy="17596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Does increased study time always lead to better performance?</a:t>
          </a:r>
        </a:p>
      </dsp:txBody>
      <dsp:txXfrm>
        <a:off x="85900" y="106563"/>
        <a:ext cx="6091840" cy="1587880"/>
      </dsp:txXfrm>
    </dsp:sp>
    <dsp:sp modelId="{67C1B873-D5D9-4086-B3F2-1881B8E340F8}">
      <dsp:nvSpPr>
        <dsp:cNvPr id="0" name=""/>
        <dsp:cNvSpPr/>
      </dsp:nvSpPr>
      <dsp:spPr>
        <a:xfrm>
          <a:off x="0" y="1872503"/>
          <a:ext cx="6263640" cy="17596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Can sleep and study time be optimally balanced?</a:t>
          </a:r>
        </a:p>
      </dsp:txBody>
      <dsp:txXfrm>
        <a:off x="85900" y="1958403"/>
        <a:ext cx="6091840" cy="1587880"/>
      </dsp:txXfrm>
    </dsp:sp>
    <dsp:sp modelId="{69592B73-B188-46C9-B357-8D205C85256E}">
      <dsp:nvSpPr>
        <dsp:cNvPr id="0" name=""/>
        <dsp:cNvSpPr/>
      </dsp:nvSpPr>
      <dsp:spPr>
        <a:xfrm>
          <a:off x="0" y="3724344"/>
          <a:ext cx="6263640" cy="17596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Is stress the most important factor in the dataset?</a:t>
          </a:r>
        </a:p>
      </dsp:txBody>
      <dsp:txXfrm>
        <a:off x="85900" y="3810244"/>
        <a:ext cx="6091840" cy="1587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EF2DD-C0D5-4064-ACA3-0B755ED04D24}">
      <dsp:nvSpPr>
        <dsp:cNvPr id="0" name=""/>
        <dsp:cNvSpPr/>
      </dsp:nvSpPr>
      <dsp:spPr>
        <a:xfrm>
          <a:off x="0" y="404284"/>
          <a:ext cx="10515600" cy="173565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Result: t(9989.6) = –1.47, p = 0.142</a:t>
          </a:r>
        </a:p>
        <a:p>
          <a:pPr marL="171450" lvl="1" indent="-171450" algn="l" defTabSz="844550">
            <a:lnSpc>
              <a:spcPct val="90000"/>
            </a:lnSpc>
            <a:spcBef>
              <a:spcPct val="0"/>
            </a:spcBef>
            <a:spcAft>
              <a:spcPct val="15000"/>
            </a:spcAft>
            <a:buChar char="•"/>
          </a:pPr>
          <a:r>
            <a:rPr lang="en-US" sz="1900" kern="1200"/>
            <a:t>Means: Female = 3.612, Male = 3.623</a:t>
          </a:r>
        </a:p>
        <a:p>
          <a:pPr marL="171450" lvl="1" indent="-171450" algn="l" defTabSz="844550">
            <a:lnSpc>
              <a:spcPct val="90000"/>
            </a:lnSpc>
            <a:spcBef>
              <a:spcPct val="0"/>
            </a:spcBef>
            <a:spcAft>
              <a:spcPct val="15000"/>
            </a:spcAft>
            <a:buChar char="•"/>
          </a:pPr>
          <a:r>
            <a:rPr lang="en-US" sz="1900" kern="1200"/>
            <a:t>95% CI: –0.027 to 0.0039</a:t>
          </a:r>
        </a:p>
        <a:p>
          <a:pPr marL="171450" lvl="1" indent="-171450" algn="l" defTabSz="844550">
            <a:lnSpc>
              <a:spcPct val="90000"/>
            </a:lnSpc>
            <a:spcBef>
              <a:spcPct val="0"/>
            </a:spcBef>
            <a:spcAft>
              <a:spcPct val="15000"/>
            </a:spcAft>
            <a:buChar char="•"/>
          </a:pPr>
          <a:r>
            <a:rPr lang="en-US" sz="1900" kern="1200"/>
            <a:t>Interpretation: No significant GPA difference between genders; CI includes zero.</a:t>
          </a:r>
        </a:p>
      </dsp:txBody>
      <dsp:txXfrm>
        <a:off x="0" y="404284"/>
        <a:ext cx="10515600" cy="1735650"/>
      </dsp:txXfrm>
    </dsp:sp>
    <dsp:sp modelId="{7D6F9F75-1468-4D69-8202-1CAF3A234267}">
      <dsp:nvSpPr>
        <dsp:cNvPr id="0" name=""/>
        <dsp:cNvSpPr/>
      </dsp:nvSpPr>
      <dsp:spPr>
        <a:xfrm>
          <a:off x="525780" y="123844"/>
          <a:ext cx="7360920" cy="5608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T‑Test: GPA Differences by Gender:</a:t>
          </a:r>
        </a:p>
      </dsp:txBody>
      <dsp:txXfrm>
        <a:off x="553160" y="151224"/>
        <a:ext cx="7306160" cy="506120"/>
      </dsp:txXfrm>
    </dsp:sp>
    <dsp:sp modelId="{2B6F95A6-AAB5-4519-AA4C-65D6BB9755F9}">
      <dsp:nvSpPr>
        <dsp:cNvPr id="0" name=""/>
        <dsp:cNvSpPr/>
      </dsp:nvSpPr>
      <dsp:spPr>
        <a:xfrm>
          <a:off x="0" y="2522974"/>
          <a:ext cx="10515600" cy="1705725"/>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Result: F(3, 9996) = 229.2, p &lt; 2e‑16</a:t>
          </a:r>
        </a:p>
        <a:p>
          <a:pPr marL="171450" lvl="1" indent="-171450" algn="l" defTabSz="844550">
            <a:lnSpc>
              <a:spcPct val="90000"/>
            </a:lnSpc>
            <a:spcBef>
              <a:spcPct val="0"/>
            </a:spcBef>
            <a:spcAft>
              <a:spcPct val="15000"/>
            </a:spcAft>
            <a:buChar char="•"/>
          </a:pPr>
          <a:r>
            <a:rPr lang="en-US" sz="1900" kern="1200"/>
            <a:t>Effect: Strong differences in GPA across stress groups</a:t>
          </a:r>
        </a:p>
        <a:p>
          <a:pPr marL="171450" lvl="1" indent="-171450" algn="l" defTabSz="844550">
            <a:lnSpc>
              <a:spcPct val="90000"/>
            </a:lnSpc>
            <a:spcBef>
              <a:spcPct val="0"/>
            </a:spcBef>
            <a:spcAft>
              <a:spcPct val="15000"/>
            </a:spcAft>
            <a:buChar char="•"/>
          </a:pPr>
          <a:r>
            <a:rPr lang="en-US" sz="1900" kern="1200"/>
            <a:t>Interpretation: Higher stress is associated with lower GPA; stress is a major predictor.</a:t>
          </a:r>
        </a:p>
      </dsp:txBody>
      <dsp:txXfrm>
        <a:off x="0" y="2522974"/>
        <a:ext cx="10515600" cy="1705725"/>
      </dsp:txXfrm>
    </dsp:sp>
    <dsp:sp modelId="{098B8FD6-CC69-4008-BB95-A1CFB21102DC}">
      <dsp:nvSpPr>
        <dsp:cNvPr id="0" name=""/>
        <dsp:cNvSpPr/>
      </dsp:nvSpPr>
      <dsp:spPr>
        <a:xfrm>
          <a:off x="525780" y="2242534"/>
          <a:ext cx="7360920" cy="5608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ANOVA: GPA Differences by Stress Level:</a:t>
          </a:r>
        </a:p>
      </dsp:txBody>
      <dsp:txXfrm>
        <a:off x="553160" y="2269914"/>
        <a:ext cx="7306160"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B277A-DCDA-4F0D-8D20-4CFB59CC4ED0}"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E7D43-4715-49AD-AA65-E7C473CA22A5}" type="slidenum">
              <a:rPr lang="en-US" smtClean="0"/>
              <a:t>‹#›</a:t>
            </a:fld>
            <a:endParaRPr lang="en-US"/>
          </a:p>
        </p:txBody>
      </p:sp>
    </p:spTree>
    <p:extLst>
      <p:ext uri="{BB962C8B-B14F-4D97-AF65-F5344CB8AC3E}">
        <p14:creationId xmlns:p14="http://schemas.microsoft.com/office/powerpoint/2010/main" val="96553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University Students' Performance</a:t>
            </a:r>
            <a:br>
              <a:rPr lang="en-US" sz="4800">
                <a:solidFill>
                  <a:srgbClr val="FFFFFF"/>
                </a:solidFill>
              </a:rPr>
            </a:br>
            <a:r>
              <a:rPr lang="en-US" sz="4800">
                <a:solidFill>
                  <a:srgbClr val="FFFFFF"/>
                </a:solidFill>
              </a:rPr>
              <a:t>&amp; Study Habits Report 2026</a:t>
            </a:r>
          </a:p>
        </p:txBody>
      </p:sp>
      <p:sp>
        <p:nvSpPr>
          <p:cNvPr id="3" name="Subtitle 2"/>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sz="1700"/>
          </a:p>
          <a:p>
            <a:pPr algn="l"/>
            <a:r>
              <a:rPr lang="en-US" sz="1700"/>
              <a:t>Sarah Redmon &amp; Wes Smith (Group 5)</a:t>
            </a:r>
          </a:p>
          <a:p>
            <a:pPr algn="l"/>
            <a:r>
              <a:rPr lang="en-US" sz="1700"/>
              <a:t>CSC 783 – Data Visualization</a:t>
            </a:r>
          </a:p>
          <a:p>
            <a:pPr algn="l"/>
            <a:r>
              <a:rPr lang="en-US" sz="1700"/>
              <a:t>Spring 2026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2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5A680A7-93AB-64A1-5938-5B822E94A526}"/>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Dataset Description</a:t>
            </a:r>
          </a:p>
        </p:txBody>
      </p:sp>
      <p:sp>
        <p:nvSpPr>
          <p:cNvPr id="3" name="Content Placeholder 2">
            <a:extLst>
              <a:ext uri="{FF2B5EF4-FFF2-40B4-BE49-F238E27FC236}">
                <a16:creationId xmlns:a16="http://schemas.microsoft.com/office/drawing/2014/main" id="{4EFBF984-71E1-BECF-8DDD-5C468CB3667D}"/>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b="1">
                <a:solidFill>
                  <a:schemeClr val="tx2"/>
                </a:solidFill>
              </a:rPr>
              <a:t>Title</a:t>
            </a:r>
            <a:r>
              <a:rPr lang="en-US" sz="1800">
                <a:solidFill>
                  <a:schemeClr val="tx2"/>
                </a:solidFill>
              </a:rPr>
              <a:t>: </a:t>
            </a:r>
            <a:r>
              <a:rPr lang="en-US" sz="1800" i="1">
                <a:solidFill>
                  <a:schemeClr val="tx2"/>
                </a:solidFill>
              </a:rPr>
              <a:t>“University Students Performance &amp; Study Habits 2026”</a:t>
            </a:r>
            <a:endParaRPr lang="en-US" sz="1800">
              <a:solidFill>
                <a:schemeClr val="tx2"/>
              </a:solidFill>
            </a:endParaRPr>
          </a:p>
          <a:p>
            <a:pPr marL="0" indent="0">
              <a:buNone/>
            </a:pPr>
            <a:endParaRPr lang="en-US" sz="1800">
              <a:solidFill>
                <a:schemeClr val="tx2"/>
              </a:solidFill>
            </a:endParaRPr>
          </a:p>
          <a:p>
            <a:r>
              <a:rPr lang="en-US" sz="1800">
                <a:solidFill>
                  <a:schemeClr val="tx2"/>
                </a:solidFill>
                <a:latin typeface="Aptos"/>
                <a:cs typeface="Times New Roman"/>
              </a:rPr>
              <a:t>The dataset contains 10,000 students (i.e., 10,000 rows). There are no missing values and there is also one CSV file.</a:t>
            </a:r>
          </a:p>
          <a:p>
            <a:r>
              <a:rPr lang="en-US" sz="1800">
                <a:solidFill>
                  <a:schemeClr val="tx2"/>
                </a:solidFill>
                <a:latin typeface="Aptos"/>
                <a:cs typeface="Times New Roman"/>
              </a:rPr>
              <a:t>There are 27 columns, including but not limited to GPA, AI usage, and sleep time.</a:t>
            </a:r>
          </a:p>
          <a:p>
            <a:r>
              <a:rPr lang="en-US" sz="1800">
                <a:solidFill>
                  <a:schemeClr val="tx2"/>
                </a:solidFill>
                <a:latin typeface="Aptos"/>
                <a:cs typeface="Times New Roman"/>
              </a:rPr>
              <a:t>The dataset is a static dataset, a snapshot from 2026, with a new dataset released each year.</a:t>
            </a:r>
          </a:p>
        </p:txBody>
      </p:sp>
    </p:spTree>
    <p:extLst>
      <p:ext uri="{BB962C8B-B14F-4D97-AF65-F5344CB8AC3E}">
        <p14:creationId xmlns:p14="http://schemas.microsoft.com/office/powerpoint/2010/main" val="799699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4FD179-F2BC-47B6-74AE-ABF234DC809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2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BD4C73B-97C7-6371-EB9F-7FB068138A20}"/>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Dataset Description cont.</a:t>
            </a:r>
          </a:p>
        </p:txBody>
      </p:sp>
      <p:sp>
        <p:nvSpPr>
          <p:cNvPr id="3" name="Content Placeholder 2">
            <a:extLst>
              <a:ext uri="{FF2B5EF4-FFF2-40B4-BE49-F238E27FC236}">
                <a16:creationId xmlns:a16="http://schemas.microsoft.com/office/drawing/2014/main" id="{21FBDA52-E210-08C7-E4C3-D3E5FBEC34A3}"/>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en-US" sz="1800">
                <a:solidFill>
                  <a:schemeClr val="tx2"/>
                </a:solidFill>
              </a:rPr>
              <a:t>The dataset includes a list of students from many countries and backgrounds.</a:t>
            </a:r>
          </a:p>
          <a:p>
            <a:r>
              <a:rPr lang="en-US" sz="1800">
                <a:solidFill>
                  <a:schemeClr val="tx2"/>
                </a:solidFill>
              </a:rPr>
              <a:t>The overall purpose of the dataset is to show the correlations and relationships between the study habits and academic performance.</a:t>
            </a:r>
          </a:p>
          <a:p>
            <a:r>
              <a:rPr lang="en-US" sz="1800">
                <a:solidFill>
                  <a:schemeClr val="tx2"/>
                </a:solidFill>
              </a:rPr>
              <a:t>The dataset can help students know what specifically they can improve on, as well as help educators and researchers know what contributes to student performance, so they can bring forth information that emphasizes what can help make students’ habits healthier and bring the best possible outcomes (i.e., high GPA).</a:t>
            </a:r>
          </a:p>
        </p:txBody>
      </p:sp>
    </p:spTree>
    <p:extLst>
      <p:ext uri="{BB962C8B-B14F-4D97-AF65-F5344CB8AC3E}">
        <p14:creationId xmlns:p14="http://schemas.microsoft.com/office/powerpoint/2010/main" val="61638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F754F-4F83-6F08-D546-93725EABB355}"/>
              </a:ext>
            </a:extLst>
          </p:cNvPr>
          <p:cNvSpPr>
            <a:spLocks noGrp="1"/>
          </p:cNvSpPr>
          <p:nvPr>
            <p:ph type="title"/>
          </p:nvPr>
        </p:nvSpPr>
        <p:spPr>
          <a:xfrm>
            <a:off x="838200" y="557189"/>
            <a:ext cx="3374136" cy="5567891"/>
          </a:xfrm>
        </p:spPr>
        <p:txBody>
          <a:bodyPr>
            <a:normAutofit/>
          </a:bodyPr>
          <a:lstStyle/>
          <a:p>
            <a:r>
              <a:rPr lang="en-US" sz="5200"/>
              <a:t>Research Questions</a:t>
            </a:r>
          </a:p>
        </p:txBody>
      </p:sp>
      <p:graphicFrame>
        <p:nvGraphicFramePr>
          <p:cNvPr id="5" name="Content Placeholder 2">
            <a:extLst>
              <a:ext uri="{FF2B5EF4-FFF2-40B4-BE49-F238E27FC236}">
                <a16:creationId xmlns:a16="http://schemas.microsoft.com/office/drawing/2014/main" id="{8989C5F9-D79B-3AC2-614C-68A68ECD5FC9}"/>
              </a:ext>
            </a:extLst>
          </p:cNvPr>
          <p:cNvGraphicFramePr>
            <a:graphicFrameLocks noGrp="1"/>
          </p:cNvGraphicFramePr>
          <p:nvPr>
            <p:ph idx="1"/>
            <p:extLst>
              <p:ext uri="{D42A27DB-BD31-4B8C-83A1-F6EECF244321}">
                <p14:modId xmlns:p14="http://schemas.microsoft.com/office/powerpoint/2010/main" val="408886190"/>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0481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19FAD-C767-A0B8-094E-7F508D0D687C}"/>
              </a:ext>
            </a:extLst>
          </p:cNvPr>
          <p:cNvSpPr>
            <a:spLocks noGrp="1"/>
          </p:cNvSpPr>
          <p:nvPr>
            <p:ph type="title"/>
          </p:nvPr>
        </p:nvSpPr>
        <p:spPr>
          <a:xfrm>
            <a:off x="686834" y="1153572"/>
            <a:ext cx="3200400" cy="4461163"/>
          </a:xfrm>
        </p:spPr>
        <p:txBody>
          <a:bodyPr>
            <a:normAutofit/>
          </a:bodyPr>
          <a:lstStyle/>
          <a:p>
            <a:r>
              <a:rPr lang="en-US">
                <a:solidFill>
                  <a:srgbClr val="FFFFFF"/>
                </a:solidFill>
              </a:rPr>
              <a:t>Research Question 1 - </a:t>
            </a:r>
            <a:r>
              <a:rPr lang="en-US" sz="3600">
                <a:solidFill>
                  <a:srgbClr val="FFFFFF"/>
                </a:solidFill>
                <a:latin typeface="Aptos Display"/>
              </a:rPr>
              <a:t>Does increased study time always lead to better</a:t>
            </a:r>
            <a:br>
              <a:rPr lang="en-US" sz="3600">
                <a:solidFill>
                  <a:srgbClr val="FFFFFF"/>
                </a:solidFill>
                <a:latin typeface="Aptos Display"/>
              </a:rPr>
            </a:br>
            <a:r>
              <a:rPr lang="en-US" sz="3600">
                <a:solidFill>
                  <a:srgbClr val="FFFFFF"/>
                </a:solidFill>
                <a:latin typeface="Aptos Display"/>
              </a:rPr>
              <a:t>performance?</a:t>
            </a:r>
            <a:endParaRPr lang="en-US" sz="36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E50678-2376-EF5D-ED05-1056E8C0964D}"/>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a:t>Optimal study time is around 3-5 hours being much more effective if combined with sleep time 7-8 hours and low levels of stress. Study time effectiveness starts to taper off around 6 hours and leads to higher levels of stress. </a:t>
            </a:r>
          </a:p>
        </p:txBody>
      </p:sp>
    </p:spTree>
    <p:extLst>
      <p:ext uri="{BB962C8B-B14F-4D97-AF65-F5344CB8AC3E}">
        <p14:creationId xmlns:p14="http://schemas.microsoft.com/office/powerpoint/2010/main" val="1105527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A48AC-9C7C-A5B3-7E3F-C7C0B7D13500}"/>
              </a:ext>
            </a:extLst>
          </p:cNvPr>
          <p:cNvSpPr>
            <a:spLocks noGrp="1"/>
          </p:cNvSpPr>
          <p:nvPr>
            <p:ph type="title"/>
          </p:nvPr>
        </p:nvSpPr>
        <p:spPr>
          <a:xfrm>
            <a:off x="686834" y="1153572"/>
            <a:ext cx="3200400" cy="4461163"/>
          </a:xfrm>
        </p:spPr>
        <p:txBody>
          <a:bodyPr>
            <a:normAutofit/>
          </a:bodyPr>
          <a:lstStyle/>
          <a:p>
            <a:r>
              <a:rPr lang="en-US">
                <a:solidFill>
                  <a:srgbClr val="FFFFFF"/>
                </a:solidFill>
              </a:rPr>
              <a:t>Research Question 2 -</a:t>
            </a:r>
            <a:r>
              <a:rPr lang="en-US" sz="2400">
                <a:solidFill>
                  <a:srgbClr val="FFFFFF"/>
                </a:solidFill>
              </a:rPr>
              <a:t> </a:t>
            </a:r>
            <a:r>
              <a:rPr lang="en-US" sz="3600">
                <a:solidFill>
                  <a:srgbClr val="FFFFFF"/>
                </a:solidFill>
              </a:rPr>
              <a:t>Can sleep and study time be optimally</a:t>
            </a:r>
            <a:br>
              <a:rPr lang="en-US" sz="3600">
                <a:solidFill>
                  <a:srgbClr val="FFFFFF"/>
                </a:solidFill>
              </a:rPr>
            </a:br>
            <a:r>
              <a:rPr lang="en-US" sz="3600">
                <a:solidFill>
                  <a:srgbClr val="FFFFFF"/>
                </a:solidFill>
              </a:rPr>
              <a:t>balanced?</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B37624-4C49-31C9-26CD-F0337C3C890A}"/>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a:t>The best balance of sleep to study time is 3-5 hours per day of study time to 7-8 hours of sleep. More study time correlates to higher stress levels, leading to lower performance. </a:t>
            </a:r>
          </a:p>
        </p:txBody>
      </p:sp>
    </p:spTree>
    <p:extLst>
      <p:ext uri="{BB962C8B-B14F-4D97-AF65-F5344CB8AC3E}">
        <p14:creationId xmlns:p14="http://schemas.microsoft.com/office/powerpoint/2010/main" val="4097474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7FB088-ADC6-116F-6140-E2D780F2FE90}"/>
              </a:ext>
            </a:extLst>
          </p:cNvPr>
          <p:cNvSpPr>
            <a:spLocks noGrp="1"/>
          </p:cNvSpPr>
          <p:nvPr>
            <p:ph type="title"/>
          </p:nvPr>
        </p:nvSpPr>
        <p:spPr>
          <a:xfrm>
            <a:off x="686834" y="1153572"/>
            <a:ext cx="3200400" cy="4461163"/>
          </a:xfrm>
        </p:spPr>
        <p:txBody>
          <a:bodyPr>
            <a:normAutofit/>
          </a:bodyPr>
          <a:lstStyle/>
          <a:p>
            <a:r>
              <a:rPr lang="en-US">
                <a:solidFill>
                  <a:srgbClr val="FFFFFF"/>
                </a:solidFill>
              </a:rPr>
              <a:t>Research Question 3 - </a:t>
            </a:r>
            <a:r>
              <a:rPr lang="en-US" sz="3600">
                <a:solidFill>
                  <a:srgbClr val="FFFFFF"/>
                </a:solidFill>
              </a:rPr>
              <a:t>Is stress the most important factor in the dataset?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A70039-5BF9-3B54-8602-9C7706FEE3CC}"/>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a:t>Stress has the strongest negative correlation with performance, with the other key factors GPA, sleep, and study time having a direct relationship with stress levels.</a:t>
            </a:r>
          </a:p>
        </p:txBody>
      </p:sp>
    </p:spTree>
    <p:extLst>
      <p:ext uri="{BB962C8B-B14F-4D97-AF65-F5344CB8AC3E}">
        <p14:creationId xmlns:p14="http://schemas.microsoft.com/office/powerpoint/2010/main" val="584307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8508F-3669-ADCD-3538-22C48EF22FAF}"/>
              </a:ext>
            </a:extLst>
          </p:cNvPr>
          <p:cNvSpPr>
            <a:spLocks noGrp="1"/>
          </p:cNvSpPr>
          <p:nvPr>
            <p:ph type="title"/>
          </p:nvPr>
        </p:nvSpPr>
        <p:spPr>
          <a:xfrm>
            <a:off x="838200" y="557188"/>
            <a:ext cx="10515600" cy="1133499"/>
          </a:xfrm>
        </p:spPr>
        <p:txBody>
          <a:bodyPr>
            <a:normAutofit/>
          </a:bodyPr>
          <a:lstStyle/>
          <a:p>
            <a:pPr algn="ctr"/>
            <a:r>
              <a:rPr lang="en-US" sz="5200">
                <a:ea typeface="+mj-lt"/>
                <a:cs typeface="+mj-lt"/>
              </a:rPr>
              <a:t>Data Analysis</a:t>
            </a:r>
            <a:endParaRPr lang="en-US" sz="5200"/>
          </a:p>
        </p:txBody>
      </p:sp>
      <p:graphicFrame>
        <p:nvGraphicFramePr>
          <p:cNvPr id="36" name="Content Placeholder 2">
            <a:extLst>
              <a:ext uri="{FF2B5EF4-FFF2-40B4-BE49-F238E27FC236}">
                <a16:creationId xmlns:a16="http://schemas.microsoft.com/office/drawing/2014/main" id="{6C687210-33CA-BF16-C476-BC12D5539582}"/>
              </a:ext>
            </a:extLst>
          </p:cNvPr>
          <p:cNvGraphicFramePr>
            <a:graphicFrameLocks noGrp="1"/>
          </p:cNvGraphicFramePr>
          <p:nvPr>
            <p:ph idx="1"/>
            <p:extLst>
              <p:ext uri="{D42A27DB-BD31-4B8C-83A1-F6EECF244321}">
                <p14:modId xmlns:p14="http://schemas.microsoft.com/office/powerpoint/2010/main" val="81099669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744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6F35F2-143F-A6DA-1517-11C4CB79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6B008-F24E-DD87-8F78-EBB8B012159A}"/>
              </a:ext>
            </a:extLst>
          </p:cNvPr>
          <p:cNvSpPr>
            <a:spLocks noGrp="1"/>
          </p:cNvSpPr>
          <p:nvPr>
            <p:ph type="title"/>
          </p:nvPr>
        </p:nvSpPr>
        <p:spPr>
          <a:xfrm>
            <a:off x="833119" y="1122363"/>
            <a:ext cx="4497887" cy="2387600"/>
          </a:xfrm>
        </p:spPr>
        <p:txBody>
          <a:bodyPr vert="horz" lIns="91440" tIns="45720" rIns="91440" bIns="45720" rtlCol="0" anchor="b">
            <a:normAutofit/>
          </a:bodyPr>
          <a:lstStyle/>
          <a:p>
            <a:r>
              <a:rPr lang="en-US" sz="5400" kern="1200">
                <a:solidFill>
                  <a:schemeClr val="tx1"/>
                </a:solidFill>
                <a:latin typeface="+mj-lt"/>
                <a:ea typeface="+mj-ea"/>
                <a:cs typeface="+mj-cs"/>
              </a:rPr>
              <a:t>Data Visualizations</a:t>
            </a:r>
          </a:p>
        </p:txBody>
      </p:sp>
      <p:pic>
        <p:nvPicPr>
          <p:cNvPr id="16" name="Picture 15" descr="A graph showing a number of different colored lines&#10;&#10;AI-generated content may be incorrect.">
            <a:extLst>
              <a:ext uri="{FF2B5EF4-FFF2-40B4-BE49-F238E27FC236}">
                <a16:creationId xmlns:a16="http://schemas.microsoft.com/office/drawing/2014/main" id="{3F111D0C-1767-A8C2-8EC2-2029B5436819}"/>
              </a:ext>
            </a:extLst>
          </p:cNvPr>
          <p:cNvPicPr>
            <a:picLocks noChangeAspect="1"/>
          </p:cNvPicPr>
          <p:nvPr/>
        </p:nvPicPr>
        <p:blipFill>
          <a:blip r:embed="rId2">
            <a:extLst>
              <a:ext uri="{28A0092B-C50C-407E-A947-70E740481C1C}">
                <a14:useLocalDpi xmlns:a14="http://schemas.microsoft.com/office/drawing/2010/main" val="0"/>
              </a:ext>
            </a:extLst>
          </a:blip>
          <a:srcRect t="305" r="7" b="7"/>
          <a:stretch>
            <a:fillRect/>
          </a:stretch>
        </p:blipFill>
        <p:spPr>
          <a:xfrm>
            <a:off x="6096853" y="401436"/>
            <a:ext cx="2438262" cy="1458494"/>
          </a:xfrm>
          <a:prstGeom prst="rect">
            <a:avLst/>
          </a:prstGeom>
        </p:spPr>
      </p:pic>
      <p:pic>
        <p:nvPicPr>
          <p:cNvPr id="4" name="Picture 3" descr="A graph of a graph&#10;&#10;AI-generated content may be incorrect.">
            <a:extLst>
              <a:ext uri="{FF2B5EF4-FFF2-40B4-BE49-F238E27FC236}">
                <a16:creationId xmlns:a16="http://schemas.microsoft.com/office/drawing/2014/main" id="{6FB40DEA-0FF1-1976-2D2A-B122192D4D7C}"/>
              </a:ext>
            </a:extLst>
          </p:cNvPr>
          <p:cNvPicPr>
            <a:picLocks noChangeAspect="1"/>
          </p:cNvPicPr>
          <p:nvPr/>
        </p:nvPicPr>
        <p:blipFill>
          <a:blip r:embed="rId3"/>
          <a:srcRect t="18514" r="-4" b="-4"/>
          <a:stretch>
            <a:fillRect/>
          </a:stretch>
        </p:blipFill>
        <p:spPr>
          <a:xfrm>
            <a:off x="6096001" y="2671119"/>
            <a:ext cx="2439106" cy="1475754"/>
          </a:xfrm>
          <a:prstGeom prst="rect">
            <a:avLst/>
          </a:prstGeom>
        </p:spPr>
      </p:pic>
      <p:pic>
        <p:nvPicPr>
          <p:cNvPr id="14" name="Picture 13" descr="A red and blue squares&#10;&#10;AI-generated content may be incorrect.">
            <a:extLst>
              <a:ext uri="{FF2B5EF4-FFF2-40B4-BE49-F238E27FC236}">
                <a16:creationId xmlns:a16="http://schemas.microsoft.com/office/drawing/2014/main" id="{48A5D39F-96D0-BA93-727C-36722363F973}"/>
              </a:ext>
            </a:extLst>
          </p:cNvPr>
          <p:cNvPicPr>
            <a:picLocks noChangeAspect="1"/>
          </p:cNvPicPr>
          <p:nvPr/>
        </p:nvPicPr>
        <p:blipFill>
          <a:blip r:embed="rId4"/>
          <a:srcRect t="3148" r="-4" b="19946"/>
          <a:stretch>
            <a:fillRect/>
          </a:stretch>
        </p:blipFill>
        <p:spPr>
          <a:xfrm>
            <a:off x="9178592" y="2666800"/>
            <a:ext cx="2369932" cy="1444368"/>
          </a:xfrm>
          <a:prstGeom prst="rect">
            <a:avLst/>
          </a:prstGeom>
        </p:spPr>
      </p:pic>
      <p:pic>
        <p:nvPicPr>
          <p:cNvPr id="9" name="Picture 8" descr="A map of the world&#10;&#10;AI-generated content may be incorrect.">
            <a:extLst>
              <a:ext uri="{FF2B5EF4-FFF2-40B4-BE49-F238E27FC236}">
                <a16:creationId xmlns:a16="http://schemas.microsoft.com/office/drawing/2014/main" id="{E8A41BB4-77D5-3830-7743-729B970D4155}"/>
              </a:ext>
            </a:extLst>
          </p:cNvPr>
          <p:cNvPicPr>
            <a:picLocks noChangeAspect="1"/>
          </p:cNvPicPr>
          <p:nvPr/>
        </p:nvPicPr>
        <p:blipFill>
          <a:blip r:embed="rId5"/>
          <a:srcRect l="14782" r="8586" b="-2"/>
          <a:stretch>
            <a:fillRect/>
          </a:stretch>
        </p:blipFill>
        <p:spPr>
          <a:xfrm>
            <a:off x="6096000" y="4967685"/>
            <a:ext cx="2439106" cy="1448239"/>
          </a:xfrm>
          <a:prstGeom prst="rect">
            <a:avLst/>
          </a:prstGeom>
        </p:spPr>
      </p:pic>
      <p:cxnSp>
        <p:nvCxnSpPr>
          <p:cNvPr id="41" name="Straight Connector 40">
            <a:extLst>
              <a:ext uri="{FF2B5EF4-FFF2-40B4-BE49-F238E27FC236}">
                <a16:creationId xmlns:a16="http://schemas.microsoft.com/office/drawing/2014/main" id="{DC034BB4-8B50-4484-85C4-0CE4699284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56858" y="0"/>
            <a:ext cx="0" cy="6858000"/>
          </a:xfrm>
          <a:prstGeom prst="line">
            <a:avLst/>
          </a:prstGeom>
          <a:ln w="3810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graph showing a number of dots&#10;&#10;AI-generated content may be incorrect.">
            <a:extLst>
              <a:ext uri="{FF2B5EF4-FFF2-40B4-BE49-F238E27FC236}">
                <a16:creationId xmlns:a16="http://schemas.microsoft.com/office/drawing/2014/main" id="{E2EFF396-08ED-4BB3-9F87-98F1B1DE389C}"/>
              </a:ext>
            </a:extLst>
          </p:cNvPr>
          <p:cNvPicPr>
            <a:picLocks noChangeAspect="1"/>
          </p:cNvPicPr>
          <p:nvPr/>
        </p:nvPicPr>
        <p:blipFill>
          <a:blip r:embed="rId6">
            <a:extLst>
              <a:ext uri="{28A0092B-C50C-407E-A947-70E740481C1C}">
                <a14:useLocalDpi xmlns:a14="http://schemas.microsoft.com/office/drawing/2010/main" val="0"/>
              </a:ext>
            </a:extLst>
          </a:blip>
          <a:srcRect r="-4" b="11045"/>
          <a:stretch>
            <a:fillRect/>
          </a:stretch>
        </p:blipFill>
        <p:spPr>
          <a:xfrm>
            <a:off x="9179859" y="427487"/>
            <a:ext cx="2368665" cy="1406396"/>
          </a:xfrm>
          <a:prstGeom prst="rect">
            <a:avLst/>
          </a:prstGeom>
        </p:spPr>
      </p:pic>
      <p:cxnSp>
        <p:nvCxnSpPr>
          <p:cNvPr id="43" name="Straight Connector 42">
            <a:extLst>
              <a:ext uri="{FF2B5EF4-FFF2-40B4-BE49-F238E27FC236}">
                <a16:creationId xmlns:a16="http://schemas.microsoft.com/office/drawing/2014/main" id="{81B200F7-B57A-4824-BB91-B6624450A5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2228770"/>
            <a:ext cx="6096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A92245C-961F-47D5-9691-272D28692D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36750" y="4581803"/>
            <a:ext cx="605525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1758CE1-AA27-1E5C-AAE7-ED368FDEDC37}"/>
              </a:ext>
            </a:extLst>
          </p:cNvPr>
          <p:cNvPicPr>
            <a:picLocks noChangeAspect="1"/>
          </p:cNvPicPr>
          <p:nvPr/>
        </p:nvPicPr>
        <p:blipFill>
          <a:blip r:embed="rId7">
            <a:extLst>
              <a:ext uri="{28A0092B-C50C-407E-A947-70E740481C1C}">
                <a14:useLocalDpi xmlns:a14="http://schemas.microsoft.com/office/drawing/2010/main" val="0"/>
              </a:ext>
            </a:extLst>
          </a:blip>
          <a:srcRect l="429" r="-21" b="-21"/>
          <a:stretch>
            <a:fillRect/>
          </a:stretch>
        </p:blipFill>
        <p:spPr>
          <a:xfrm>
            <a:off x="9178592" y="4977763"/>
            <a:ext cx="2369932" cy="1428084"/>
          </a:xfrm>
          <a:prstGeom prst="rect">
            <a:avLst/>
          </a:prstGeom>
        </p:spPr>
      </p:pic>
      <p:graphicFrame>
        <p:nvGraphicFramePr>
          <p:cNvPr id="3" name="Object 2">
            <a:extLst>
              <a:ext uri="{FF2B5EF4-FFF2-40B4-BE49-F238E27FC236}">
                <a16:creationId xmlns:a16="http://schemas.microsoft.com/office/drawing/2014/main" id="{1B9DF8A3-CA17-41C6-F629-78DDF43BE1EA}"/>
              </a:ext>
            </a:extLst>
          </p:cNvPr>
          <p:cNvGraphicFramePr>
            <a:graphicFrameLocks noChangeAspect="1"/>
          </p:cNvGraphicFramePr>
          <p:nvPr>
            <p:extLst>
              <p:ext uri="{D42A27DB-BD31-4B8C-83A1-F6EECF244321}">
                <p14:modId xmlns:p14="http://schemas.microsoft.com/office/powerpoint/2010/main" val="940237040"/>
              </p:ext>
            </p:extLst>
          </p:nvPr>
        </p:nvGraphicFramePr>
        <p:xfrm>
          <a:off x="0" y="6343650"/>
          <a:ext cx="923925" cy="514350"/>
        </p:xfrm>
        <a:graphic>
          <a:graphicData uri="http://schemas.openxmlformats.org/presentationml/2006/ole">
            <mc:AlternateContent xmlns:mc="http://schemas.openxmlformats.org/markup-compatibility/2006">
              <mc:Choice xmlns:v="urn:schemas-microsoft-com:vml" Requires="v">
                <p:oleObj name="Packager Shell Object" showAsIcon="1" r:id="rId8" imgW="923880" imgH="514350" progId="Package">
                  <p:embed/>
                </p:oleObj>
              </mc:Choice>
              <mc:Fallback>
                <p:oleObj name="Packager Shell Object" showAsIcon="1" r:id="rId8" imgW="923880" imgH="514350" progId="Package">
                  <p:embed/>
                  <p:pic>
                    <p:nvPicPr>
                      <p:cNvPr id="3" name="Object 2">
                        <a:extLst>
                          <a:ext uri="{FF2B5EF4-FFF2-40B4-BE49-F238E27FC236}">
                            <a16:creationId xmlns:a16="http://schemas.microsoft.com/office/drawing/2014/main" id="{1B9DF8A3-CA17-41C6-F629-78DDF43BE1EA}"/>
                          </a:ext>
                        </a:extLst>
                      </p:cNvPr>
                      <p:cNvPicPr/>
                      <p:nvPr/>
                    </p:nvPicPr>
                    <p:blipFill>
                      <a:blip r:embed="rId9"/>
                      <a:stretch>
                        <a:fillRect/>
                      </a:stretch>
                    </p:blipFill>
                    <p:spPr>
                      <a:xfrm>
                        <a:off x="0" y="6343650"/>
                        <a:ext cx="923925" cy="514350"/>
                      </a:xfrm>
                      <a:prstGeom prst="rect">
                        <a:avLst/>
                      </a:prstGeom>
                    </p:spPr>
                  </p:pic>
                </p:oleObj>
              </mc:Fallback>
            </mc:AlternateContent>
          </a:graphicData>
        </a:graphic>
      </p:graphicFrame>
    </p:spTree>
    <p:extLst>
      <p:ext uri="{BB962C8B-B14F-4D97-AF65-F5344CB8AC3E}">
        <p14:creationId xmlns:p14="http://schemas.microsoft.com/office/powerpoint/2010/main" val="3740225117"/>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709423-A0A0-9AB3-302F-62061A87EC3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F239F22-2F85-F1C3-D0F8-748233271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B3D09-630A-698B-970F-AB40389CA1A0}"/>
              </a:ext>
            </a:extLst>
          </p:cNvPr>
          <p:cNvSpPr>
            <a:spLocks noGrp="1"/>
          </p:cNvSpPr>
          <p:nvPr>
            <p:ph type="title"/>
          </p:nvPr>
        </p:nvSpPr>
        <p:spPr>
          <a:xfrm>
            <a:off x="411480" y="991443"/>
            <a:ext cx="4443154" cy="1087819"/>
          </a:xfrm>
        </p:spPr>
        <p:txBody>
          <a:bodyPr anchor="b">
            <a:normAutofit/>
          </a:bodyPr>
          <a:lstStyle/>
          <a:p>
            <a:r>
              <a:rPr lang="en-US" sz="2400"/>
              <a:t>Data Visualization Interpretation - Stress Level by GPA Letter (Bar Graph)</a:t>
            </a:r>
          </a:p>
        </p:txBody>
      </p:sp>
      <p:sp>
        <p:nvSpPr>
          <p:cNvPr id="25" name="Rectangle 24">
            <a:extLst>
              <a:ext uri="{FF2B5EF4-FFF2-40B4-BE49-F238E27FC236}">
                <a16:creationId xmlns:a16="http://schemas.microsoft.com/office/drawing/2014/main" id="{613847F3-77E2-5FF6-E520-48C15CAA6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12091B2-F756-9109-080A-5C455FF83A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C73084E-A929-A4A2-597E-6E44F27EAC0A}"/>
              </a:ext>
            </a:extLst>
          </p:cNvPr>
          <p:cNvSpPr>
            <a:spLocks noGrp="1"/>
          </p:cNvSpPr>
          <p:nvPr>
            <p:ph idx="1"/>
          </p:nvPr>
        </p:nvSpPr>
        <p:spPr>
          <a:xfrm>
            <a:off x="411480" y="2684095"/>
            <a:ext cx="4443154" cy="3492868"/>
          </a:xfrm>
        </p:spPr>
        <p:txBody>
          <a:bodyPr vert="horz" lIns="91440" tIns="45720" rIns="91440" bIns="45720" rtlCol="0" anchor="t">
            <a:normAutofit/>
          </a:bodyPr>
          <a:lstStyle/>
          <a:p>
            <a:pPr>
              <a:buFont typeface="Arial,Sans-Serif" panose="020B0604020202020204" pitchFamily="34" charset="0"/>
            </a:pPr>
            <a:r>
              <a:rPr lang="en-US" sz="1800"/>
              <a:t>This bar graph shows GPA letter distribution across stress levels.</a:t>
            </a:r>
          </a:p>
          <a:p>
            <a:pPr>
              <a:buFont typeface="Arial,Sans-Serif" panose="020B0604020202020204" pitchFamily="34" charset="0"/>
            </a:pPr>
            <a:r>
              <a:rPr lang="en-US" sz="1800"/>
              <a:t>Stress management directly influences grade outcomes. Students with lower stress achieve higher academic performance.</a:t>
            </a:r>
          </a:p>
        </p:txBody>
      </p:sp>
      <p:pic>
        <p:nvPicPr>
          <p:cNvPr id="5" name="Picture 4" descr="A graph of a graph&#10;&#10;AI-generated content may be incorrect.">
            <a:extLst>
              <a:ext uri="{FF2B5EF4-FFF2-40B4-BE49-F238E27FC236}">
                <a16:creationId xmlns:a16="http://schemas.microsoft.com/office/drawing/2014/main" id="{35BFE575-982B-4AE5-1C4C-F91FB13AD67C}"/>
              </a:ext>
            </a:extLst>
          </p:cNvPr>
          <p:cNvPicPr>
            <a:picLocks noChangeAspect="1"/>
          </p:cNvPicPr>
          <p:nvPr/>
        </p:nvPicPr>
        <p:blipFill>
          <a:blip r:embed="rId2"/>
          <a:stretch>
            <a:fillRect/>
          </a:stretch>
        </p:blipFill>
        <p:spPr>
          <a:xfrm>
            <a:off x="5208154" y="993978"/>
            <a:ext cx="6574806" cy="4879880"/>
          </a:xfrm>
          <a:prstGeom prst="rect">
            <a:avLst/>
          </a:prstGeom>
        </p:spPr>
      </p:pic>
    </p:spTree>
    <p:extLst>
      <p:ext uri="{BB962C8B-B14F-4D97-AF65-F5344CB8AC3E}">
        <p14:creationId xmlns:p14="http://schemas.microsoft.com/office/powerpoint/2010/main" val="2742717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56ECE4-FA57-7A25-3150-9F135A758970}"/>
              </a:ext>
            </a:extLst>
          </p:cNvPr>
          <p:cNvSpPr>
            <a:spLocks noGrp="1"/>
          </p:cNvSpPr>
          <p:nvPr>
            <p:ph type="title"/>
          </p:nvPr>
        </p:nvSpPr>
        <p:spPr>
          <a:xfrm>
            <a:off x="411480" y="991443"/>
            <a:ext cx="4443154" cy="1087819"/>
          </a:xfrm>
        </p:spPr>
        <p:txBody>
          <a:bodyPr anchor="b">
            <a:normAutofit/>
          </a:bodyPr>
          <a:lstStyle/>
          <a:p>
            <a:r>
              <a:rPr lang="en-US" sz="2400"/>
              <a:t>Data Visualization Interpretation - GPA by Stress Level (Box Plot)</a:t>
            </a:r>
          </a:p>
        </p:txBody>
      </p:sp>
      <p:sp>
        <p:nvSpPr>
          <p:cNvPr id="25" name="Rectangle 2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E15A5D0-B4FA-92A4-FB16-02402A403F74}"/>
              </a:ext>
            </a:extLst>
          </p:cNvPr>
          <p:cNvSpPr>
            <a:spLocks noGrp="1"/>
          </p:cNvSpPr>
          <p:nvPr>
            <p:ph idx="1"/>
          </p:nvPr>
        </p:nvSpPr>
        <p:spPr>
          <a:xfrm>
            <a:off x="411480" y="2684095"/>
            <a:ext cx="4443154" cy="3492868"/>
          </a:xfrm>
        </p:spPr>
        <p:txBody>
          <a:bodyPr vert="horz" lIns="91440" tIns="45720" rIns="91440" bIns="45720" rtlCol="0" anchor="t">
            <a:normAutofit/>
          </a:bodyPr>
          <a:lstStyle/>
          <a:p>
            <a:r>
              <a:rPr lang="en-US" sz="1800"/>
              <a:t>This box plot compares GPA distributions across stress levels. </a:t>
            </a:r>
          </a:p>
          <a:p>
            <a:r>
              <a:rPr lang="en-US" sz="1800"/>
              <a:t>Stress not only lowers average GPA but also increases performance inconsistency.</a:t>
            </a:r>
          </a:p>
        </p:txBody>
      </p:sp>
      <p:pic>
        <p:nvPicPr>
          <p:cNvPr id="12" name="Picture 11">
            <a:extLst>
              <a:ext uri="{FF2B5EF4-FFF2-40B4-BE49-F238E27FC236}">
                <a16:creationId xmlns:a16="http://schemas.microsoft.com/office/drawing/2014/main" id="{41C7A953-E5CB-76EC-6C9B-7D2C92D1A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3583" y="1458758"/>
            <a:ext cx="6565684" cy="3937322"/>
          </a:xfrm>
          <a:prstGeom prst="rect">
            <a:avLst/>
          </a:prstGeom>
        </p:spPr>
      </p:pic>
    </p:spTree>
    <p:extLst>
      <p:ext uri="{BB962C8B-B14F-4D97-AF65-F5344CB8AC3E}">
        <p14:creationId xmlns:p14="http://schemas.microsoft.com/office/powerpoint/2010/main" val="2206025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017240-23AC-1684-97CE-67FEC22CF60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173EEC-129A-1581-A028-C2A01A04F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316ED-5A34-A777-3CE9-7F1BE289D364}"/>
              </a:ext>
            </a:extLst>
          </p:cNvPr>
          <p:cNvSpPr>
            <a:spLocks noGrp="1"/>
          </p:cNvSpPr>
          <p:nvPr>
            <p:ph type="title"/>
          </p:nvPr>
        </p:nvSpPr>
        <p:spPr>
          <a:xfrm>
            <a:off x="411480" y="991443"/>
            <a:ext cx="4443154" cy="1087819"/>
          </a:xfrm>
        </p:spPr>
        <p:txBody>
          <a:bodyPr anchor="b">
            <a:normAutofit/>
          </a:bodyPr>
          <a:lstStyle/>
          <a:p>
            <a:r>
              <a:rPr lang="en-US" sz="2400"/>
              <a:t>Data Visualization Interpretation - Average GPA by Student Nationality (Choropleth Map)</a:t>
            </a:r>
          </a:p>
        </p:txBody>
      </p:sp>
      <p:sp>
        <p:nvSpPr>
          <p:cNvPr id="12" name="Rectangle 11">
            <a:extLst>
              <a:ext uri="{FF2B5EF4-FFF2-40B4-BE49-F238E27FC236}">
                <a16:creationId xmlns:a16="http://schemas.microsoft.com/office/drawing/2014/main" id="{312F30B1-1BAC-F4AB-D332-F02D0E07C7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364C8454-7D74-0026-3C22-B3F7026EF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D4477AC-5052-57ED-FC04-CF5FA89C1D09}"/>
              </a:ext>
            </a:extLst>
          </p:cNvPr>
          <p:cNvSpPr>
            <a:spLocks noGrp="1"/>
          </p:cNvSpPr>
          <p:nvPr>
            <p:ph idx="1"/>
          </p:nvPr>
        </p:nvSpPr>
        <p:spPr>
          <a:xfrm>
            <a:off x="411480" y="2684095"/>
            <a:ext cx="4443154" cy="3492868"/>
          </a:xfrm>
        </p:spPr>
        <p:txBody>
          <a:bodyPr vert="horz" lIns="91440" tIns="45720" rIns="91440" bIns="45720" rtlCol="0" anchor="t">
            <a:normAutofit/>
          </a:bodyPr>
          <a:lstStyle/>
          <a:p>
            <a:r>
              <a:rPr lang="en-US" sz="1800"/>
              <a:t>This</a:t>
            </a:r>
            <a:r>
              <a:rPr lang="en-US" sz="1800">
                <a:latin typeface="Aptos"/>
                <a:cs typeface="Arial"/>
              </a:rPr>
              <a:t> choropleth map shows how the average GPA differs by country. Each nation’s color reflects its students’ overall academic performance.</a:t>
            </a:r>
          </a:p>
          <a:p>
            <a:pPr lvl="1"/>
            <a:r>
              <a:rPr lang="en-US" sz="1800">
                <a:latin typeface="Aptos"/>
                <a:cs typeface="Arial"/>
              </a:rPr>
              <a:t>Darker shades = </a:t>
            </a:r>
            <a:r>
              <a:rPr lang="en-US" sz="1800"/>
              <a:t>higher GPAs.</a:t>
            </a:r>
          </a:p>
          <a:p>
            <a:pPr lvl="1"/>
            <a:r>
              <a:rPr lang="en-US" sz="1800"/>
              <a:t>Lighter shades = lower GPAs.</a:t>
            </a:r>
          </a:p>
          <a:p>
            <a:r>
              <a:rPr lang="en-US" sz="1800"/>
              <a:t>Regional clusters appear — some areas consistently outperform others.</a:t>
            </a:r>
          </a:p>
          <a:p>
            <a:r>
              <a:rPr lang="en-US" sz="1800" dirty="0"/>
              <a:t>Academic results vary globally, likely influenced by education systems, culture, and resources.</a:t>
            </a:r>
          </a:p>
        </p:txBody>
      </p:sp>
      <p:pic>
        <p:nvPicPr>
          <p:cNvPr id="4" name="Picture 3" descr="A map of the world&#10;&#10;AI-generated content may be incorrect.">
            <a:extLst>
              <a:ext uri="{FF2B5EF4-FFF2-40B4-BE49-F238E27FC236}">
                <a16:creationId xmlns:a16="http://schemas.microsoft.com/office/drawing/2014/main" id="{B7D2898F-4F68-F4CD-557F-8A30110CDC8D}"/>
              </a:ext>
            </a:extLst>
          </p:cNvPr>
          <p:cNvPicPr>
            <a:picLocks noChangeAspect="1"/>
          </p:cNvPicPr>
          <p:nvPr/>
        </p:nvPicPr>
        <p:blipFill>
          <a:blip r:embed="rId2"/>
          <a:stretch>
            <a:fillRect/>
          </a:stretch>
        </p:blipFill>
        <p:spPr>
          <a:xfrm>
            <a:off x="5216277" y="1944924"/>
            <a:ext cx="6557454" cy="2968578"/>
          </a:xfrm>
          <a:prstGeom prst="rect">
            <a:avLst/>
          </a:prstGeom>
        </p:spPr>
      </p:pic>
      <p:graphicFrame>
        <p:nvGraphicFramePr>
          <p:cNvPr id="7" name="Object 6">
            <a:extLst>
              <a:ext uri="{FF2B5EF4-FFF2-40B4-BE49-F238E27FC236}">
                <a16:creationId xmlns:a16="http://schemas.microsoft.com/office/drawing/2014/main" id="{76E12EF1-DB18-5849-590F-60FF7B29A09E}"/>
              </a:ext>
            </a:extLst>
          </p:cNvPr>
          <p:cNvGraphicFramePr>
            <a:graphicFrameLocks noChangeAspect="1"/>
          </p:cNvGraphicFramePr>
          <p:nvPr/>
        </p:nvGraphicFramePr>
        <p:xfrm>
          <a:off x="0" y="6086475"/>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3" imgW="914400" imgH="771525" progId="Package">
                  <p:embed/>
                </p:oleObj>
              </mc:Choice>
              <mc:Fallback>
                <p:oleObj name="Packager Shell Object" showAsIcon="1" r:id="rId3" imgW="914400" imgH="771525" progId="Package">
                  <p:embed/>
                  <p:pic>
                    <p:nvPicPr>
                      <p:cNvPr id="7" name="Object 6">
                        <a:extLst>
                          <a:ext uri="{FF2B5EF4-FFF2-40B4-BE49-F238E27FC236}">
                            <a16:creationId xmlns:a16="http://schemas.microsoft.com/office/drawing/2014/main" id="{76E12EF1-DB18-5849-590F-60FF7B29A09E}"/>
                          </a:ext>
                        </a:extLst>
                      </p:cNvPr>
                      <p:cNvPicPr/>
                      <p:nvPr/>
                    </p:nvPicPr>
                    <p:blipFill>
                      <a:blip r:embed="rId4"/>
                      <a:stretch>
                        <a:fillRect/>
                      </a:stretch>
                    </p:blipFill>
                    <p:spPr>
                      <a:xfrm>
                        <a:off x="0" y="6086475"/>
                        <a:ext cx="914400" cy="771525"/>
                      </a:xfrm>
                      <a:prstGeom prst="rect">
                        <a:avLst/>
                      </a:prstGeom>
                      <a:blipFill>
                        <a:blip r:embed="rId5"/>
                        <a:stretch>
                          <a:fillRect/>
                        </a:stretch>
                      </a:blipFill>
                      <a:ln>
                        <a:solidFill>
                          <a:schemeClr val="accent1"/>
                        </a:solidFill>
                      </a:ln>
                    </p:spPr>
                  </p:pic>
                </p:oleObj>
              </mc:Fallback>
            </mc:AlternateContent>
          </a:graphicData>
        </a:graphic>
      </p:graphicFrame>
    </p:spTree>
    <p:extLst>
      <p:ext uri="{BB962C8B-B14F-4D97-AF65-F5344CB8AC3E}">
        <p14:creationId xmlns:p14="http://schemas.microsoft.com/office/powerpoint/2010/main" val="724676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518D28-A8BB-46E3-0454-AFD66DB9385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424034-5609-3159-6696-12C6066EA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27B1D-42DD-1166-83F4-9EBC55AC1D7B}"/>
              </a:ext>
            </a:extLst>
          </p:cNvPr>
          <p:cNvSpPr>
            <a:spLocks noGrp="1"/>
          </p:cNvSpPr>
          <p:nvPr>
            <p:ph type="title"/>
          </p:nvPr>
        </p:nvSpPr>
        <p:spPr>
          <a:xfrm>
            <a:off x="411480" y="991443"/>
            <a:ext cx="4443154" cy="1087819"/>
          </a:xfrm>
        </p:spPr>
        <p:txBody>
          <a:bodyPr anchor="b">
            <a:normAutofit/>
          </a:bodyPr>
          <a:lstStyle/>
          <a:p>
            <a:r>
              <a:rPr lang="en-US" sz="2400"/>
              <a:t>Data Visualization Interpretation - Correlation Heatmap</a:t>
            </a:r>
          </a:p>
        </p:txBody>
      </p:sp>
      <p:sp>
        <p:nvSpPr>
          <p:cNvPr id="12" name="Rectangle 11">
            <a:extLst>
              <a:ext uri="{FF2B5EF4-FFF2-40B4-BE49-F238E27FC236}">
                <a16:creationId xmlns:a16="http://schemas.microsoft.com/office/drawing/2014/main" id="{DF98C216-7913-5295-D9E9-5DF74C5F3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4C6BF581-7755-584D-39B4-A4ADD61F0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76F7CA0-964B-9E22-C51B-5AF2484C8CBA}"/>
              </a:ext>
            </a:extLst>
          </p:cNvPr>
          <p:cNvSpPr>
            <a:spLocks noGrp="1"/>
          </p:cNvSpPr>
          <p:nvPr>
            <p:ph idx="1"/>
          </p:nvPr>
        </p:nvSpPr>
        <p:spPr>
          <a:xfrm>
            <a:off x="411480" y="2684095"/>
            <a:ext cx="4443154" cy="3492868"/>
          </a:xfrm>
        </p:spPr>
        <p:txBody>
          <a:bodyPr vert="horz" lIns="91440" tIns="45720" rIns="91440" bIns="45720" rtlCol="0" anchor="t">
            <a:noAutofit/>
          </a:bodyPr>
          <a:lstStyle/>
          <a:p>
            <a:pPr>
              <a:lnSpc>
                <a:spcPct val="100000"/>
              </a:lnSpc>
              <a:spcBef>
                <a:spcPct val="0"/>
              </a:spcBef>
              <a:spcAft>
                <a:spcPct val="0"/>
              </a:spcAft>
            </a:pPr>
            <a:r>
              <a:rPr lang="en-US" sz="1400"/>
              <a:t>This correlation heatmap displays the strength and direction of linear relationships among four key variables in the dataset:</a:t>
            </a:r>
          </a:p>
          <a:p>
            <a:pPr lvl="1">
              <a:lnSpc>
                <a:spcPct val="100000"/>
              </a:lnSpc>
              <a:spcBef>
                <a:spcPct val="0"/>
              </a:spcBef>
              <a:spcAft>
                <a:spcPct val="0"/>
              </a:spcAft>
            </a:pPr>
            <a:r>
              <a:rPr lang="en-US" sz="1400">
                <a:latin typeface="Aptos"/>
                <a:cs typeface="Arial"/>
              </a:rPr>
              <a:t>Sleep hours</a:t>
            </a:r>
          </a:p>
          <a:p>
            <a:pPr lvl="1">
              <a:lnSpc>
                <a:spcPct val="100000"/>
              </a:lnSpc>
              <a:spcBef>
                <a:spcPct val="0"/>
              </a:spcBef>
              <a:spcAft>
                <a:spcPct val="0"/>
              </a:spcAft>
            </a:pPr>
            <a:r>
              <a:rPr lang="en-US" sz="1400">
                <a:latin typeface="Aptos"/>
                <a:cs typeface="Arial"/>
              </a:rPr>
              <a:t>Mental stress level</a:t>
            </a:r>
          </a:p>
          <a:p>
            <a:pPr lvl="1">
              <a:lnSpc>
                <a:spcPct val="100000"/>
              </a:lnSpc>
              <a:spcBef>
                <a:spcPct val="0"/>
              </a:spcBef>
              <a:spcAft>
                <a:spcPct val="0"/>
              </a:spcAft>
            </a:pPr>
            <a:r>
              <a:rPr lang="en-US" sz="1400">
                <a:latin typeface="Aptos"/>
                <a:cs typeface="Arial"/>
              </a:rPr>
              <a:t>GPA</a:t>
            </a:r>
          </a:p>
          <a:p>
            <a:pPr lvl="1">
              <a:lnSpc>
                <a:spcPct val="100000"/>
              </a:lnSpc>
              <a:spcBef>
                <a:spcPct val="0"/>
              </a:spcBef>
              <a:spcAft>
                <a:spcPct val="0"/>
              </a:spcAft>
            </a:pPr>
            <a:r>
              <a:rPr lang="en-US" sz="1400">
                <a:latin typeface="Aptos"/>
                <a:cs typeface="Arial"/>
              </a:rPr>
              <a:t>Study Hours</a:t>
            </a:r>
          </a:p>
          <a:p>
            <a:pPr>
              <a:lnSpc>
                <a:spcPct val="110000"/>
              </a:lnSpc>
            </a:pPr>
            <a:r>
              <a:rPr lang="en-US" sz="1400"/>
              <a:t>The heatmap shows a moderate positive correlation, meaning students who study more tend to have higher GPAs. There is a small positive correlation, suggesting that students who sleep more tend to have slightly higher GPAs. This is a negative correlation, meaning higher stress levels are associated with lower GPAs.</a:t>
            </a:r>
          </a:p>
        </p:txBody>
      </p:sp>
      <p:pic>
        <p:nvPicPr>
          <p:cNvPr id="6" name="Picture 5" descr="A red and blue squares&#10;&#10;AI-generated content may be incorrect.">
            <a:extLst>
              <a:ext uri="{FF2B5EF4-FFF2-40B4-BE49-F238E27FC236}">
                <a16:creationId xmlns:a16="http://schemas.microsoft.com/office/drawing/2014/main" id="{F0DA6121-55CD-7FDA-34A3-C99C780B0BBF}"/>
              </a:ext>
            </a:extLst>
          </p:cNvPr>
          <p:cNvPicPr>
            <a:picLocks noChangeAspect="1"/>
          </p:cNvPicPr>
          <p:nvPr/>
        </p:nvPicPr>
        <p:blipFill>
          <a:blip r:embed="rId2"/>
          <a:srcRect l="15297" r="-71" b="-90"/>
          <a:stretch>
            <a:fillRect/>
          </a:stretch>
        </p:blipFill>
        <p:spPr>
          <a:xfrm>
            <a:off x="5265708" y="398134"/>
            <a:ext cx="6513387" cy="6061313"/>
          </a:xfrm>
          <a:prstGeom prst="rect">
            <a:avLst/>
          </a:prstGeom>
        </p:spPr>
      </p:pic>
    </p:spTree>
    <p:extLst>
      <p:ext uri="{BB962C8B-B14F-4D97-AF65-F5344CB8AC3E}">
        <p14:creationId xmlns:p14="http://schemas.microsoft.com/office/powerpoint/2010/main" val="1149445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5E3980-3B7C-371E-BEBF-B394F25B82C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C77C1C-4DAE-227A-64C7-7BCA1D5D99DC}"/>
              </a:ext>
            </a:extLst>
          </p:cNvPr>
          <p:cNvSpPr>
            <a:spLocks noGrp="1"/>
          </p:cNvSpPr>
          <p:nvPr>
            <p:ph type="title"/>
          </p:nvPr>
        </p:nvSpPr>
        <p:spPr>
          <a:xfrm>
            <a:off x="411480" y="991443"/>
            <a:ext cx="4443154" cy="1087819"/>
          </a:xfrm>
        </p:spPr>
        <p:txBody>
          <a:bodyPr anchor="b">
            <a:normAutofit/>
          </a:bodyPr>
          <a:lstStyle/>
          <a:p>
            <a:r>
              <a:rPr lang="en-US" sz="2400"/>
              <a:t>Data Visualization Interpretation - Sleep Hours Density by GPA Letter (Density Chart)</a:t>
            </a: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9593D16-EEAF-AA8A-8CD1-135D429FF06F}"/>
              </a:ext>
            </a:extLst>
          </p:cNvPr>
          <p:cNvSpPr>
            <a:spLocks noGrp="1"/>
          </p:cNvSpPr>
          <p:nvPr>
            <p:ph idx="1"/>
          </p:nvPr>
        </p:nvSpPr>
        <p:spPr>
          <a:xfrm>
            <a:off x="411480" y="2684095"/>
            <a:ext cx="4443154" cy="3492868"/>
          </a:xfrm>
        </p:spPr>
        <p:txBody>
          <a:bodyPr vert="horz" lIns="91440" tIns="45720" rIns="91440" bIns="45720" rtlCol="0" anchor="t">
            <a:normAutofit/>
          </a:bodyPr>
          <a:lstStyle/>
          <a:p>
            <a:r>
              <a:rPr lang="en-US" sz="1800"/>
              <a:t>This density plot shows sleep hour distributions for each GPA letter category.</a:t>
            </a:r>
          </a:p>
          <a:p>
            <a:r>
              <a:rPr lang="en-US" sz="1800"/>
              <a:t>A-grade students cluster around 7–8 hours of sleep.</a:t>
            </a:r>
          </a:p>
          <a:p>
            <a:r>
              <a:rPr lang="en-US" sz="1800"/>
              <a:t>Consistent sleep habits are a strong predictor of academic success.</a:t>
            </a:r>
          </a:p>
        </p:txBody>
      </p:sp>
      <p:pic>
        <p:nvPicPr>
          <p:cNvPr id="5" name="Picture 4">
            <a:extLst>
              <a:ext uri="{FF2B5EF4-FFF2-40B4-BE49-F238E27FC236}">
                <a16:creationId xmlns:a16="http://schemas.microsoft.com/office/drawing/2014/main" id="{BEA67F1E-0764-1E30-F830-8E94DF92B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7283" y="1480484"/>
            <a:ext cx="6513801" cy="3892476"/>
          </a:xfrm>
          <a:prstGeom prst="rect">
            <a:avLst/>
          </a:prstGeom>
        </p:spPr>
      </p:pic>
    </p:spTree>
    <p:extLst>
      <p:ext uri="{BB962C8B-B14F-4D97-AF65-F5344CB8AC3E}">
        <p14:creationId xmlns:p14="http://schemas.microsoft.com/office/powerpoint/2010/main" val="758483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D4FAB1-56AE-12B4-682D-1377B44B095F}"/>
              </a:ext>
            </a:extLst>
          </p:cNvPr>
          <p:cNvSpPr>
            <a:spLocks noGrp="1"/>
          </p:cNvSpPr>
          <p:nvPr>
            <p:ph type="title"/>
          </p:nvPr>
        </p:nvSpPr>
        <p:spPr>
          <a:xfrm>
            <a:off x="411480" y="991443"/>
            <a:ext cx="4443154" cy="1087819"/>
          </a:xfrm>
        </p:spPr>
        <p:txBody>
          <a:bodyPr anchor="b">
            <a:normAutofit/>
          </a:bodyPr>
          <a:lstStyle/>
          <a:p>
            <a:r>
              <a:rPr lang="en-US" sz="2400"/>
              <a:t>Data Visualization Interpretation - Study Hours vs Adjusted GPA (Scatter Plot)</a:t>
            </a: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33D054F-20B1-CCF3-1A2B-456272C060AB}"/>
              </a:ext>
            </a:extLst>
          </p:cNvPr>
          <p:cNvSpPr>
            <a:spLocks noGrp="1"/>
          </p:cNvSpPr>
          <p:nvPr>
            <p:ph idx="1"/>
          </p:nvPr>
        </p:nvSpPr>
        <p:spPr>
          <a:xfrm>
            <a:off x="411480" y="2684095"/>
            <a:ext cx="4443154" cy="3492868"/>
          </a:xfrm>
        </p:spPr>
        <p:txBody>
          <a:bodyPr vert="horz" lIns="91440" tIns="45720" rIns="91440" bIns="45720" rtlCol="0" anchor="t">
            <a:normAutofit/>
          </a:bodyPr>
          <a:lstStyle/>
          <a:p>
            <a:r>
              <a:rPr lang="en-US" sz="1800"/>
              <a:t>This scatter plot shows the relationship between daily study hours and GPA. Color intensity represents mental stress levels.</a:t>
            </a:r>
          </a:p>
          <a:p>
            <a:r>
              <a:rPr lang="en-US" sz="1800"/>
              <a:t>Moderate study hours with low stress (blue points) yield the most consistent positive outcomes.</a:t>
            </a:r>
          </a:p>
          <a:p>
            <a:r>
              <a:rPr lang="en-US" sz="1800"/>
              <a:t>Study time improves GPA, but excessive stress undermines benefits. Balance between workload and mental health is key.</a:t>
            </a:r>
          </a:p>
        </p:txBody>
      </p:sp>
      <p:pic>
        <p:nvPicPr>
          <p:cNvPr id="5" name="Picture 4">
            <a:extLst>
              <a:ext uri="{FF2B5EF4-FFF2-40B4-BE49-F238E27FC236}">
                <a16:creationId xmlns:a16="http://schemas.microsoft.com/office/drawing/2014/main" id="{91918B43-AA5A-0FD3-F708-882F3F500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6483" y="1240543"/>
            <a:ext cx="6564601" cy="4383648"/>
          </a:xfrm>
          <a:prstGeom prst="rect">
            <a:avLst/>
          </a:prstGeom>
        </p:spPr>
      </p:pic>
    </p:spTree>
    <p:extLst>
      <p:ext uri="{BB962C8B-B14F-4D97-AF65-F5344CB8AC3E}">
        <p14:creationId xmlns:p14="http://schemas.microsoft.com/office/powerpoint/2010/main" val="216330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549FAD-9882-22CE-A3D2-0EAF6BCDF7D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Conclusions</a:t>
            </a:r>
          </a:p>
        </p:txBody>
      </p:sp>
      <p:sp>
        <p:nvSpPr>
          <p:cNvPr id="3" name="Content Placeholder 2">
            <a:extLst>
              <a:ext uri="{FF2B5EF4-FFF2-40B4-BE49-F238E27FC236}">
                <a16:creationId xmlns:a16="http://schemas.microsoft.com/office/drawing/2014/main" id="{40DF2795-4611-0426-57D5-AE6250B7C8D2}"/>
              </a:ext>
            </a:extLst>
          </p:cNvPr>
          <p:cNvSpPr>
            <a:spLocks noGrp="1"/>
          </p:cNvSpPr>
          <p:nvPr>
            <p:ph idx="1"/>
          </p:nvPr>
        </p:nvSpPr>
        <p:spPr>
          <a:xfrm>
            <a:off x="917531" y="1587512"/>
            <a:ext cx="10178099" cy="3683358"/>
          </a:xfrm>
        </p:spPr>
        <p:txBody>
          <a:bodyPr vert="horz" lIns="91440" tIns="45720" rIns="91440" bIns="45720" rtlCol="0" anchor="ctr">
            <a:normAutofit/>
          </a:bodyPr>
          <a:lstStyle/>
          <a:p>
            <a:r>
              <a:rPr lang="en-US" sz="2000"/>
              <a:t>Students who study more generally earn higher GPAs, but pushing study time too far raises stress, which starts to hurt performance.</a:t>
            </a:r>
          </a:p>
          <a:p>
            <a:r>
              <a:rPr lang="en-US" sz="2000"/>
              <a:t>Sleep is a major positive factor; students who sleep more tend to have higher GPAs and lower stress overall.</a:t>
            </a:r>
          </a:p>
          <a:p>
            <a:r>
              <a:rPr lang="en-US" sz="2000"/>
              <a:t>Stress is the strongest negative influence in the dataset, connecting to lower GPA, less sleep, and heavier study loads.</a:t>
            </a:r>
          </a:p>
          <a:p>
            <a:r>
              <a:rPr lang="en-US" sz="2000"/>
              <a:t>Top‑performing students balance study, sleep, and stress, showing steady habits rather than extremes.</a:t>
            </a:r>
          </a:p>
        </p:txBody>
      </p:sp>
    </p:spTree>
    <p:extLst>
      <p:ext uri="{BB962C8B-B14F-4D97-AF65-F5344CB8AC3E}">
        <p14:creationId xmlns:p14="http://schemas.microsoft.com/office/powerpoint/2010/main" val="2376296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University Students' Performance &amp; Study Habits Report 2026</vt:lpstr>
      <vt:lpstr>Dataset Description</vt:lpstr>
      <vt:lpstr>Dataset Description cont.</vt:lpstr>
      <vt:lpstr>Research Questions</vt:lpstr>
      <vt:lpstr>Research Question 1 - Does increased study time always lead to better performance?</vt:lpstr>
      <vt:lpstr>Research Question 2 - Can sleep and study time be optimally balanced?</vt:lpstr>
      <vt:lpstr>Research Question 3 - Is stress the most important factor in the dataset?</vt:lpstr>
      <vt:lpstr>Data Analysis</vt:lpstr>
      <vt:lpstr>Data Visualizations</vt:lpstr>
      <vt:lpstr>Data Visualization Interpretation - Stress Level by GPA Letter (Bar Graph)</vt:lpstr>
      <vt:lpstr>Data Visualization Interpretation - GPA by Stress Level (Box Plot)</vt:lpstr>
      <vt:lpstr>Data Visualization Interpretation - Average GPA by Student Nationality (Choropleth Map)</vt:lpstr>
      <vt:lpstr>Data Visualization Interpretation - Correlation Heatmap</vt:lpstr>
      <vt:lpstr>Data Visualization Interpretation - Sleep Hours Density by GPA Letter (Density Chart)</vt:lpstr>
      <vt:lpstr>Data Visualization Interpretation - Study Hours vs Adjusted GPA (Scatter Plot)</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14</cp:revision>
  <dcterms:created xsi:type="dcterms:W3CDTF">2026-04-22T15:35:53Z</dcterms:created>
  <dcterms:modified xsi:type="dcterms:W3CDTF">2026-05-03T00:16:52Z</dcterms:modified>
</cp:coreProperties>
</file>